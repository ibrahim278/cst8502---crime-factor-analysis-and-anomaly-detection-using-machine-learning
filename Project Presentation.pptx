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Id3"/>
    <p:sldId id="262" r:id="rId4"/>
    <p:sldId id="263" r:id="rId5"/>
    <p:sldId id="261" r:id="rId6"/>
    <p:sldId id="268" r:id="rId7"/>
    <p:sldId id="269" r:id="rId8"/>
    <p:sldId id="270" r:id="rId9"/>
    <p:sldId id="264" r:id="rId10"/>
    <p:sldId id="265" r:id="rId11"/>
    <p:sldId id="266" r:id="rId12"/>
    <p:sldId id="267" r:id="rId13"/>
    <p:sldId id="258" r:id="rId14"/>
    <p:sldId id="259" r:id="rId15"/>
    <p:sldId id="260" r:id="rId16"/>
    <p:sldId id="273" r:id="rId17"/>
    <p:sldId id="272" r:id="rId18"/>
    <p:sldId id="271"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5705" autoAdjust="0"/>
    <p:restoredTop sz="95878"/>
  </p:normalViewPr>
  <p:slideViewPr>
    <p:cSldViewPr snapToGrid="0">
      <p:cViewPr varScale="1">
        <p:scale>
          <a:sx n="102" d="100"/>
          <a:sy n="102" d="100"/>
        </p:scale>
        <p:origin x="208" y="41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2B939EE-4FDB-3E48-9993-4C59104B9C2E}" type="datetimeFigureOut">
              <a:rPr lang="en-US" smtClean="0"/>
              <a:t>11/24/25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7A32D27-CD5C-1D47-8DDB-B792803E3391}" type="slidenum">
              <a:rPr lang="en-US" smtClean="0"/>
              <a:t>‹#›</a:t>
            </a:fld>
            <a:endParaRPr lang="en-US"/>
          </a:p>
        </p:txBody>
      </p:sp>
    </p:spTree>
    <p:extLst>
      <p:ext uri="{BB962C8B-B14F-4D97-AF65-F5344CB8AC3E}">
        <p14:creationId xmlns:p14="http://schemas.microsoft.com/office/powerpoint/2010/main" val="15133775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B2B939EE-4FDB-3E48-9993-4C59104B9C2E}" type="datetimeFigureOut">
              <a:rPr lang="en-US" smtClean="0"/>
              <a:t>11/24/25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7A32D27-CD5C-1D47-8DDB-B792803E3391}" type="slidenum">
              <a:rPr lang="en-US" smtClean="0"/>
              <a:t>‹#›</a:t>
            </a:fld>
            <a:endParaRPr lang="en-US"/>
          </a:p>
        </p:txBody>
      </p:sp>
    </p:spTree>
    <p:extLst>
      <p:ext uri="{BB962C8B-B14F-4D97-AF65-F5344CB8AC3E}">
        <p14:creationId xmlns:p14="http://schemas.microsoft.com/office/powerpoint/2010/main" val="11611358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2B939EE-4FDB-3E48-9993-4C59104B9C2E}" type="datetimeFigureOut">
              <a:rPr lang="en-US" smtClean="0"/>
              <a:t>11/24/25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7A32D27-CD5C-1D47-8DDB-B792803E3391}" type="slidenum">
              <a:rPr lang="en-US" smtClean="0"/>
              <a:t>‹#›</a:t>
            </a:fld>
            <a:endParaRPr lang="en-US"/>
          </a:p>
        </p:txBody>
      </p:sp>
    </p:spTree>
    <p:extLst>
      <p:ext uri="{BB962C8B-B14F-4D97-AF65-F5344CB8AC3E}">
        <p14:creationId xmlns:p14="http://schemas.microsoft.com/office/powerpoint/2010/main" val="30351263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2B939EE-4FDB-3E48-9993-4C59104B9C2E}" type="datetimeFigureOut">
              <a:rPr lang="en-US" smtClean="0"/>
              <a:t>11/24/25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7A32D27-CD5C-1D47-8DDB-B792803E3391}" type="slidenum">
              <a:rPr lang="en-US" smtClean="0"/>
              <a:t>‹#›</a:t>
            </a:fld>
            <a:endParaRPr lang="en-US"/>
          </a:p>
        </p:txBody>
      </p:sp>
    </p:spTree>
    <p:extLst>
      <p:ext uri="{BB962C8B-B14F-4D97-AF65-F5344CB8AC3E}">
        <p14:creationId xmlns:p14="http://schemas.microsoft.com/office/powerpoint/2010/main" val="19419153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2B939EE-4FDB-3E48-9993-4C59104B9C2E}" type="datetimeFigureOut">
              <a:rPr lang="en-US" smtClean="0"/>
              <a:t>11/24/25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7A32D27-CD5C-1D47-8DDB-B792803E3391}" type="slidenum">
              <a:rPr lang="en-US" smtClean="0"/>
              <a:t>‹#›</a:t>
            </a:fld>
            <a:endParaRPr lang="en-US"/>
          </a:p>
        </p:txBody>
      </p:sp>
    </p:spTree>
    <p:extLst>
      <p:ext uri="{BB962C8B-B14F-4D97-AF65-F5344CB8AC3E}">
        <p14:creationId xmlns:p14="http://schemas.microsoft.com/office/powerpoint/2010/main" val="32899798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B2B939EE-4FDB-3E48-9993-4C59104B9C2E}" type="datetimeFigureOut">
              <a:rPr lang="en-US" smtClean="0"/>
              <a:t>11/24/25</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57A32D27-CD5C-1D47-8DDB-B792803E3391}" type="slidenum">
              <a:rPr lang="en-US" smtClean="0"/>
              <a:t>‹#›</a:t>
            </a:fld>
            <a:endParaRPr lang="en-US"/>
          </a:p>
        </p:txBody>
      </p:sp>
    </p:spTree>
    <p:extLst>
      <p:ext uri="{BB962C8B-B14F-4D97-AF65-F5344CB8AC3E}">
        <p14:creationId xmlns:p14="http://schemas.microsoft.com/office/powerpoint/2010/main" val="1122568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B2B939EE-4FDB-3E48-9993-4C59104B9C2E}" type="datetimeFigureOut">
              <a:rPr lang="en-US" smtClean="0"/>
              <a:t>11/24/25</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57A32D27-CD5C-1D47-8DDB-B792803E3391}" type="slidenum">
              <a:rPr lang="en-US" smtClean="0"/>
              <a:t>‹#›</a:t>
            </a:fld>
            <a:endParaRPr lang="en-US"/>
          </a:p>
        </p:txBody>
      </p:sp>
    </p:spTree>
    <p:extLst>
      <p:ext uri="{BB962C8B-B14F-4D97-AF65-F5344CB8AC3E}">
        <p14:creationId xmlns:p14="http://schemas.microsoft.com/office/powerpoint/2010/main" val="34869489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B2B939EE-4FDB-3E48-9993-4C59104B9C2E}" type="datetimeFigureOut">
              <a:rPr lang="en-US" smtClean="0"/>
              <a:t>11/24/25</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57A32D27-CD5C-1D47-8DDB-B792803E3391}" type="slidenum">
              <a:rPr lang="en-US" smtClean="0"/>
              <a:t>‹#›</a:t>
            </a:fld>
            <a:endParaRPr lang="en-US"/>
          </a:p>
        </p:txBody>
      </p:sp>
    </p:spTree>
    <p:extLst>
      <p:ext uri="{BB962C8B-B14F-4D97-AF65-F5344CB8AC3E}">
        <p14:creationId xmlns:p14="http://schemas.microsoft.com/office/powerpoint/2010/main" val="28846018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2B939EE-4FDB-3E48-9993-4C59104B9C2E}" type="datetimeFigureOut">
              <a:rPr lang="en-US" smtClean="0"/>
              <a:t>11/24/25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7A32D27-CD5C-1D47-8DDB-B792803E3391}" type="slidenum">
              <a:rPr lang="en-US" smtClean="0"/>
              <a:t>‹#›</a:t>
            </a:fld>
            <a:endParaRPr lang="en-US"/>
          </a:p>
        </p:txBody>
      </p:sp>
    </p:spTree>
    <p:extLst>
      <p:ext uri="{BB962C8B-B14F-4D97-AF65-F5344CB8AC3E}">
        <p14:creationId xmlns:p14="http://schemas.microsoft.com/office/powerpoint/2010/main" val="28140460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2B939EE-4FDB-3E48-9993-4C59104B9C2E}" type="datetimeFigureOut">
              <a:rPr lang="en-US" smtClean="0"/>
              <a:t>11/24/25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7A32D27-CD5C-1D47-8DDB-B792803E3391}" type="slidenum">
              <a:rPr lang="en-US" smtClean="0"/>
              <a:t>‹#›</a:t>
            </a:fld>
            <a:endParaRPr lang="en-US"/>
          </a:p>
        </p:txBody>
      </p:sp>
    </p:spTree>
    <p:extLst>
      <p:ext uri="{BB962C8B-B14F-4D97-AF65-F5344CB8AC3E}">
        <p14:creationId xmlns:p14="http://schemas.microsoft.com/office/powerpoint/2010/main" val="24906127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B2B939EE-4FDB-3E48-9993-4C59104B9C2E}" type="datetimeFigureOut">
              <a:rPr lang="en-US" smtClean="0"/>
              <a:t>11/24/25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7A32D27-CD5C-1D47-8DDB-B792803E3391}" type="slidenum">
              <a:rPr lang="en-US" smtClean="0"/>
              <a:t>‹#›</a:t>
            </a:fld>
            <a:endParaRPr lang="en-US"/>
          </a:p>
        </p:txBody>
      </p:sp>
    </p:spTree>
    <p:extLst>
      <p:ext uri="{BB962C8B-B14F-4D97-AF65-F5344CB8AC3E}">
        <p14:creationId xmlns:p14="http://schemas.microsoft.com/office/powerpoint/2010/main" val="238074115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B2B939EE-4FDB-3E48-9993-4C59104B9C2E}" type="datetimeFigureOut">
              <a:rPr lang="en-US" smtClean="0"/>
              <a:t>11/24/25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7A32D27-CD5C-1D47-8DDB-B792803E3391}" type="slidenum">
              <a:rPr lang="en-US" smtClean="0"/>
              <a:t>‹#›</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69466791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2B939EE-4FDB-3E48-9993-4C59104B9C2E}" type="datetimeFigureOut">
              <a:rPr lang="en-US" smtClean="0"/>
              <a:t>11/24/25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7A32D27-CD5C-1D47-8DDB-B792803E3391}" type="slidenum">
              <a:rPr lang="en-US" smtClean="0"/>
              <a:t>‹#›</a:t>
            </a:fld>
            <a:endParaRPr lang="en-US"/>
          </a:p>
        </p:txBody>
      </p:sp>
    </p:spTree>
    <p:extLst>
      <p:ext uri="{BB962C8B-B14F-4D97-AF65-F5344CB8AC3E}">
        <p14:creationId xmlns:p14="http://schemas.microsoft.com/office/powerpoint/2010/main" val="175422227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B2B939EE-4FDB-3E48-9993-4C59104B9C2E}" type="datetimeFigureOut">
              <a:rPr lang="en-US" smtClean="0"/>
              <a:t>11/24/25</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7A32D27-CD5C-1D47-8DDB-B792803E3391}" type="slidenum">
              <a:rPr lang="en-US" smtClean="0"/>
              <a:t>‹#›</a:t>
            </a:fld>
            <a:endParaRPr lang="en-US"/>
          </a:p>
        </p:txBody>
      </p:sp>
    </p:spTree>
    <p:extLst>
      <p:ext uri="{BB962C8B-B14F-4D97-AF65-F5344CB8AC3E}">
        <p14:creationId xmlns:p14="http://schemas.microsoft.com/office/powerpoint/2010/main" val="19379694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B2B939EE-4FDB-3E48-9993-4C59104B9C2E}" type="datetimeFigureOut">
              <a:rPr lang="en-US" smtClean="0"/>
              <a:t>11/24/25</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7A32D27-CD5C-1D47-8DDB-B792803E3391}" type="slidenum">
              <a:rPr lang="en-US" smtClean="0"/>
              <a:t>‹#›</a:t>
            </a:fld>
            <a:endParaRPr lang="en-US"/>
          </a:p>
        </p:txBody>
      </p:sp>
    </p:spTree>
    <p:extLst>
      <p:ext uri="{BB962C8B-B14F-4D97-AF65-F5344CB8AC3E}">
        <p14:creationId xmlns:p14="http://schemas.microsoft.com/office/powerpoint/2010/main" val="36547152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2B939EE-4FDB-3E48-9993-4C59104B9C2E}" type="datetimeFigureOut">
              <a:rPr lang="en-US" smtClean="0"/>
              <a:t>11/24/25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7A32D27-CD5C-1D47-8DDB-B792803E3391}" type="slidenum">
              <a:rPr lang="en-US" smtClean="0"/>
              <a:t>‹#›</a:t>
            </a:fld>
            <a:endParaRPr lang="en-US"/>
          </a:p>
        </p:txBody>
      </p:sp>
    </p:spTree>
    <p:extLst>
      <p:ext uri="{BB962C8B-B14F-4D97-AF65-F5344CB8AC3E}">
        <p14:creationId xmlns:p14="http://schemas.microsoft.com/office/powerpoint/2010/main" val="226642968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2B939EE-4FDB-3E48-9993-4C59104B9C2E}" type="datetimeFigureOut">
              <a:rPr lang="en-US" smtClean="0"/>
              <a:t>11/24/25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7A32D27-CD5C-1D47-8DDB-B792803E3391}" type="slidenum">
              <a:rPr lang="en-US" smtClean="0"/>
              <a:t>‹#›</a:t>
            </a:fld>
            <a:endParaRPr lang="en-US"/>
          </a:p>
        </p:txBody>
      </p:sp>
    </p:spTree>
    <p:extLst>
      <p:ext uri="{BB962C8B-B14F-4D97-AF65-F5344CB8AC3E}">
        <p14:creationId xmlns:p14="http://schemas.microsoft.com/office/powerpoint/2010/main" val="16176633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B2B939EE-4FDB-3E48-9993-4C59104B9C2E}" type="datetimeFigureOut">
              <a:rPr lang="en-US" smtClean="0"/>
              <a:t>11/24/25</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57A32D27-CD5C-1D47-8DDB-B792803E3391}" type="slidenum">
              <a:rPr lang="en-US" smtClean="0"/>
              <a:t>‹#›</a:t>
            </a:fld>
            <a:endParaRPr lang="en-US"/>
          </a:p>
        </p:txBody>
      </p:sp>
    </p:spTree>
    <p:extLst>
      <p:ext uri="{BB962C8B-B14F-4D97-AF65-F5344CB8AC3E}">
        <p14:creationId xmlns:p14="http://schemas.microsoft.com/office/powerpoint/2010/main" val="4192947843"/>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270754-4300-840A-7FDB-FE1CDDCFCF58}"/>
              </a:ext>
            </a:extLst>
          </p:cNvPr>
          <p:cNvSpPr>
            <a:spLocks noGrp="1"/>
          </p:cNvSpPr>
          <p:nvPr>
            <p:ph type="ctrTitle"/>
          </p:nvPr>
        </p:nvSpPr>
        <p:spPr>
          <a:xfrm>
            <a:off x="1288018" y="0"/>
            <a:ext cx="9615964" cy="3329581"/>
          </a:xfrm>
        </p:spPr>
        <p:txBody>
          <a:bodyPr/>
          <a:lstStyle/>
          <a:p>
            <a:r>
              <a:rPr lang="en-US" sz="3200" dirty="0"/>
              <a:t>Crime Patterns Analysis and Anomaly Detection in Law Enforcement using Machine Learning</a:t>
            </a:r>
          </a:p>
        </p:txBody>
      </p:sp>
      <p:sp>
        <p:nvSpPr>
          <p:cNvPr id="3" name="Subtitle 2">
            <a:extLst>
              <a:ext uri="{FF2B5EF4-FFF2-40B4-BE49-F238E27FC236}">
                <a16:creationId xmlns:a16="http://schemas.microsoft.com/office/drawing/2014/main" id="{837D0889-8830-2775-3C64-D807BCA497F6}"/>
              </a:ext>
            </a:extLst>
          </p:cNvPr>
          <p:cNvSpPr>
            <a:spLocks noGrp="1"/>
          </p:cNvSpPr>
          <p:nvPr>
            <p:ph type="subTitle" idx="1"/>
          </p:nvPr>
        </p:nvSpPr>
        <p:spPr>
          <a:xfrm>
            <a:off x="1288018" y="3528419"/>
            <a:ext cx="8825658" cy="2527997"/>
          </a:xfrm>
        </p:spPr>
        <p:txBody>
          <a:bodyPr>
            <a:normAutofit/>
          </a:bodyPr>
          <a:lstStyle/>
          <a:p>
            <a:pPr>
              <a:lnSpc>
                <a:spcPct val="150000"/>
              </a:lnSpc>
            </a:pPr>
            <a:r>
              <a:rPr lang="en-US" dirty="0"/>
              <a:t>Presented by:</a:t>
            </a:r>
            <a:br>
              <a:rPr lang="en-US" dirty="0"/>
            </a:br>
            <a:r>
              <a:rPr lang="en-US" dirty="0"/>
              <a:t>Abu Ambia</a:t>
            </a:r>
            <a:br>
              <a:rPr lang="en-US" dirty="0"/>
            </a:br>
            <a:r>
              <a:rPr lang="en-US" dirty="0"/>
              <a:t>Redwan Wadud</a:t>
            </a:r>
            <a:br>
              <a:rPr lang="en-US" dirty="0"/>
            </a:br>
            <a:r>
              <a:rPr lang="en-US" dirty="0"/>
              <a:t>Ibrahim irfan</a:t>
            </a:r>
          </a:p>
        </p:txBody>
      </p:sp>
      <p:sp>
        <p:nvSpPr>
          <p:cNvPr id="4" name="TextBox 3">
            <a:extLst>
              <a:ext uri="{FF2B5EF4-FFF2-40B4-BE49-F238E27FC236}">
                <a16:creationId xmlns:a16="http://schemas.microsoft.com/office/drawing/2014/main" id="{F5929B49-093E-A081-A43E-F1D34ACEB778}"/>
              </a:ext>
            </a:extLst>
          </p:cNvPr>
          <p:cNvSpPr txBox="1"/>
          <p:nvPr/>
        </p:nvSpPr>
        <p:spPr>
          <a:xfrm>
            <a:off x="1431758" y="637674"/>
            <a:ext cx="5113421" cy="646331"/>
          </a:xfrm>
          <a:prstGeom prst="rect">
            <a:avLst/>
          </a:prstGeom>
          <a:noFill/>
        </p:spPr>
        <p:txBody>
          <a:bodyPr wrap="square" rtlCol="0">
            <a:spAutoFit/>
          </a:bodyPr>
          <a:lstStyle/>
          <a:p>
            <a:r>
              <a:rPr lang="en-US" b="1" dirty="0"/>
              <a:t>CST8502: Machine Learning</a:t>
            </a:r>
          </a:p>
          <a:p>
            <a:r>
              <a:rPr lang="en-US" b="1" dirty="0"/>
              <a:t>Professor: Dr. Anu Thomas</a:t>
            </a:r>
          </a:p>
        </p:txBody>
      </p:sp>
    </p:spTree>
    <p:extLst>
      <p:ext uri="{BB962C8B-B14F-4D97-AF65-F5344CB8AC3E}">
        <p14:creationId xmlns:p14="http://schemas.microsoft.com/office/powerpoint/2010/main" val="31552781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FC7D94-C718-6438-FD0B-E7E90F408B5A}"/>
              </a:ext>
            </a:extLst>
          </p:cNvPr>
          <p:cNvSpPr>
            <a:spLocks noGrp="1"/>
          </p:cNvSpPr>
          <p:nvPr>
            <p:ph type="title"/>
          </p:nvPr>
        </p:nvSpPr>
        <p:spPr/>
        <p:txBody>
          <a:bodyPr/>
          <a:lstStyle/>
          <a:p>
            <a:r>
              <a:rPr lang="en-US" dirty="0"/>
              <a:t>Business Understanding</a:t>
            </a:r>
          </a:p>
        </p:txBody>
      </p:sp>
      <p:sp>
        <p:nvSpPr>
          <p:cNvPr id="3" name="Content Placeholder 2">
            <a:extLst>
              <a:ext uri="{FF2B5EF4-FFF2-40B4-BE49-F238E27FC236}">
                <a16:creationId xmlns:a16="http://schemas.microsoft.com/office/drawing/2014/main" id="{81B6185B-3DD0-BAF4-71FD-AB0B78B23DA8}"/>
              </a:ext>
            </a:extLst>
          </p:cNvPr>
          <p:cNvSpPr>
            <a:spLocks noGrp="1"/>
          </p:cNvSpPr>
          <p:nvPr>
            <p:ph idx="1"/>
          </p:nvPr>
        </p:nvSpPr>
        <p:spPr/>
        <p:txBody>
          <a:bodyPr/>
          <a:lstStyle/>
          <a:p>
            <a:pPr algn="just">
              <a:lnSpc>
                <a:spcPct val="150000"/>
              </a:lnSpc>
            </a:pPr>
            <a:r>
              <a:rPr lang="en-US" sz="1800" b="0" i="0" dirty="0">
                <a:effectLst/>
                <a:latin typeface="+mn-lt"/>
              </a:rPr>
              <a:t>In this project, we will apply machine learning techniques, classification using decision trees and anomaly detection in particular, to analyze crime and police-related incidents. We will leverage structured data such as time and location of an incident, as well as response details to accurately classify incidents and identify non-realistic patterns that could be used as means to identify emerging threats, rare events and data inconsistencies</a:t>
            </a:r>
            <a:r>
              <a:rPr lang="en-US" sz="1800" b="0" i="0" dirty="0">
                <a:solidFill>
                  <a:srgbClr val="000000"/>
                </a:solidFill>
                <a:effectLst/>
                <a:latin typeface="Times New Roman" panose="02020603050405020304" pitchFamily="18" charset="0"/>
              </a:rPr>
              <a:t>. </a:t>
            </a:r>
            <a:endParaRPr lang="en-US" dirty="0"/>
          </a:p>
        </p:txBody>
      </p:sp>
    </p:spTree>
    <p:extLst>
      <p:ext uri="{BB962C8B-B14F-4D97-AF65-F5344CB8AC3E}">
        <p14:creationId xmlns:p14="http://schemas.microsoft.com/office/powerpoint/2010/main" val="16993218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DC8F48-7E1F-2C2F-B44B-6688412B3589}"/>
              </a:ext>
            </a:extLst>
          </p:cNvPr>
          <p:cNvSpPr>
            <a:spLocks noGrp="1"/>
          </p:cNvSpPr>
          <p:nvPr>
            <p:ph type="title"/>
          </p:nvPr>
        </p:nvSpPr>
        <p:spPr/>
        <p:txBody>
          <a:bodyPr/>
          <a:lstStyle/>
          <a:p>
            <a:r>
              <a:rPr lang="en-US" dirty="0"/>
              <a:t>Data Understanding</a:t>
            </a:r>
          </a:p>
        </p:txBody>
      </p:sp>
      <p:pic>
        <p:nvPicPr>
          <p:cNvPr id="2050" name="Picture 2">
            <a:extLst>
              <a:ext uri="{FF2B5EF4-FFF2-40B4-BE49-F238E27FC236}">
                <a16:creationId xmlns:a16="http://schemas.microsoft.com/office/drawing/2014/main" id="{AAE714A6-1E11-D2C1-A0CB-1CDF5E33681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18959" y="3176905"/>
            <a:ext cx="4701611" cy="2796383"/>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a:extLst>
              <a:ext uri="{FF2B5EF4-FFF2-40B4-BE49-F238E27FC236}">
                <a16:creationId xmlns:a16="http://schemas.microsoft.com/office/drawing/2014/main" id="{01460F07-A8F4-23E8-1341-EAA2AC19199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1" y="2353935"/>
            <a:ext cx="4840340" cy="3619353"/>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686C5377-4842-D230-D13A-9A1886D82005}"/>
              </a:ext>
            </a:extLst>
          </p:cNvPr>
          <p:cNvSpPr txBox="1"/>
          <p:nvPr/>
        </p:nvSpPr>
        <p:spPr>
          <a:xfrm>
            <a:off x="783771" y="1549593"/>
            <a:ext cx="10351061" cy="646331"/>
          </a:xfrm>
          <a:prstGeom prst="rect">
            <a:avLst/>
          </a:prstGeom>
          <a:noFill/>
        </p:spPr>
        <p:txBody>
          <a:bodyPr wrap="square" rtlCol="0">
            <a:spAutoFit/>
          </a:bodyPr>
          <a:lstStyle/>
          <a:p>
            <a:r>
              <a:rPr lang="en-US" dirty="0"/>
              <a:t>To understand the data, we identified relationships among attributes such as Watch/Shift,</a:t>
            </a:r>
          </a:p>
          <a:p>
            <a:r>
              <a:rPr lang="en-US" dirty="0"/>
              <a:t>Number Incidents, and Top 20 NIBRS Categories.</a:t>
            </a:r>
          </a:p>
        </p:txBody>
      </p:sp>
    </p:spTree>
    <p:extLst>
      <p:ext uri="{BB962C8B-B14F-4D97-AF65-F5344CB8AC3E}">
        <p14:creationId xmlns:p14="http://schemas.microsoft.com/office/powerpoint/2010/main" val="22187457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4933A2-ECFA-8D30-4226-B4032AF4F652}"/>
              </a:ext>
            </a:extLst>
          </p:cNvPr>
          <p:cNvSpPr>
            <a:spLocks noGrp="1"/>
          </p:cNvSpPr>
          <p:nvPr>
            <p:ph type="title"/>
          </p:nvPr>
        </p:nvSpPr>
        <p:spPr/>
        <p:txBody>
          <a:bodyPr/>
          <a:lstStyle/>
          <a:p>
            <a:r>
              <a:rPr lang="en-US" dirty="0"/>
              <a:t>Data Understanding</a:t>
            </a:r>
          </a:p>
        </p:txBody>
      </p:sp>
      <p:pic>
        <p:nvPicPr>
          <p:cNvPr id="3074" name="Picture 2">
            <a:extLst>
              <a:ext uri="{FF2B5EF4-FFF2-40B4-BE49-F238E27FC236}">
                <a16:creationId xmlns:a16="http://schemas.microsoft.com/office/drawing/2014/main" id="{F1253F3E-4BA7-80C0-B99B-10ACD2A15833}"/>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030897" y="1479861"/>
            <a:ext cx="8130206" cy="46210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583081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75157C-D37A-A770-EFB9-C6BBA4B0F9F9}"/>
              </a:ext>
            </a:extLst>
          </p:cNvPr>
          <p:cNvSpPr>
            <a:spLocks noGrp="1"/>
          </p:cNvSpPr>
          <p:nvPr>
            <p:ph type="title"/>
          </p:nvPr>
        </p:nvSpPr>
        <p:spPr/>
        <p:txBody>
          <a:bodyPr/>
          <a:lstStyle/>
          <a:p>
            <a:r>
              <a:rPr lang="en-US" dirty="0"/>
              <a:t>General Data Preparation</a:t>
            </a:r>
          </a:p>
        </p:txBody>
      </p:sp>
      <p:sp>
        <p:nvSpPr>
          <p:cNvPr id="3" name="Content Placeholder 2">
            <a:extLst>
              <a:ext uri="{FF2B5EF4-FFF2-40B4-BE49-F238E27FC236}">
                <a16:creationId xmlns:a16="http://schemas.microsoft.com/office/drawing/2014/main" id="{4BDD8914-FE40-3027-E06D-AA13AD440AD8}"/>
              </a:ext>
            </a:extLst>
          </p:cNvPr>
          <p:cNvSpPr>
            <a:spLocks noGrp="1"/>
          </p:cNvSpPr>
          <p:nvPr>
            <p:ph idx="1"/>
          </p:nvPr>
        </p:nvSpPr>
        <p:spPr>
          <a:xfrm>
            <a:off x="1103312" y="1567544"/>
            <a:ext cx="8946541" cy="4680856"/>
          </a:xfrm>
        </p:spPr>
        <p:txBody>
          <a:bodyPr/>
          <a:lstStyle/>
          <a:p>
            <a:r>
              <a:rPr lang="en-US" dirty="0"/>
              <a:t>For general data preparation, we had to rename some attributes because they had incorrect labels.</a:t>
            </a:r>
          </a:p>
          <a:p>
            <a:r>
              <a:rPr lang="en-US" dirty="0"/>
              <a:t>We dropped the ID column to remove duplicates.</a:t>
            </a:r>
          </a:p>
          <a:p>
            <a:r>
              <a:rPr lang="en-US" dirty="0"/>
              <a:t>17 attributes has over 60% missing data so they immediately discarded.</a:t>
            </a:r>
          </a:p>
          <a:p>
            <a:r>
              <a:rPr lang="en-US" dirty="0"/>
              <a:t>Categorical attributes had to be converted.</a:t>
            </a:r>
          </a:p>
          <a:p>
            <a:r>
              <a:rPr lang="en-US" dirty="0"/>
              <a:t>There was a lot of redundant Date-Time data so we find the Response Time and Time Taken to Report.</a:t>
            </a:r>
          </a:p>
          <a:p>
            <a:r>
              <a:rPr lang="en-US" dirty="0"/>
              <a:t>We clustered X Coordinated and Y Coordinates into Zones before dropping all irrelevant attributes.</a:t>
            </a:r>
          </a:p>
          <a:p>
            <a:endParaRPr lang="en-US" dirty="0"/>
          </a:p>
        </p:txBody>
      </p:sp>
    </p:spTree>
    <p:extLst>
      <p:ext uri="{BB962C8B-B14F-4D97-AF65-F5344CB8AC3E}">
        <p14:creationId xmlns:p14="http://schemas.microsoft.com/office/powerpoint/2010/main" val="38430890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57C5393-BA3C-7D0A-190C-02F012A992C7}"/>
              </a:ext>
            </a:extLst>
          </p:cNvPr>
          <p:cNvSpPr txBox="1">
            <a:spLocks/>
          </p:cNvSpPr>
          <p:nvPr/>
        </p:nvSpPr>
        <p:spPr>
          <a:xfrm>
            <a:off x="477981" y="439136"/>
            <a:ext cx="8455005" cy="1617611"/>
          </a:xfrm>
          <a:prstGeom prst="rect">
            <a:avLst/>
          </a:prstGeom>
        </p:spPr>
        <p:txBody>
          <a:bodyPr vert="horz" lIns="91440" tIns="45720" rIns="91440" bIns="45720" rtlCol="0" anchor="b">
            <a:norm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4800" dirty="0"/>
              <a:t>Classification by Decision Tree</a:t>
            </a:r>
          </a:p>
        </p:txBody>
      </p:sp>
      <p:sp>
        <p:nvSpPr>
          <p:cNvPr id="5" name="Subtitle 2">
            <a:extLst>
              <a:ext uri="{FF2B5EF4-FFF2-40B4-BE49-F238E27FC236}">
                <a16:creationId xmlns:a16="http://schemas.microsoft.com/office/drawing/2014/main" id="{1E1EE28D-0FFC-A360-A623-6CC9B7AB2F09}"/>
              </a:ext>
            </a:extLst>
          </p:cNvPr>
          <p:cNvSpPr txBox="1">
            <a:spLocks/>
          </p:cNvSpPr>
          <p:nvPr/>
        </p:nvSpPr>
        <p:spPr>
          <a:xfrm>
            <a:off x="587397" y="3114460"/>
            <a:ext cx="3933306" cy="1208141"/>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a:lstStyle>
          <a:p>
            <a:r>
              <a:rPr lang="en-US" sz="1400" dirty="0"/>
              <a:t>Target Column: Type of Incident</a:t>
            </a:r>
          </a:p>
          <a:p>
            <a:r>
              <a:rPr lang="en-US" sz="1400" dirty="0"/>
              <a:t>Grouped all unique values into 6 Categories</a:t>
            </a:r>
          </a:p>
          <a:p>
            <a:r>
              <a:rPr lang="en-US" sz="1400" dirty="0"/>
              <a:t>Model Accuracy : 79.6%</a:t>
            </a:r>
          </a:p>
          <a:p>
            <a:endParaRPr lang="en-US" sz="1400" dirty="0"/>
          </a:p>
          <a:p>
            <a:endParaRPr lang="en-US" sz="1400" dirty="0"/>
          </a:p>
        </p:txBody>
      </p:sp>
      <p:pic>
        <p:nvPicPr>
          <p:cNvPr id="6" name="Picture 4">
            <a:extLst>
              <a:ext uri="{FF2B5EF4-FFF2-40B4-BE49-F238E27FC236}">
                <a16:creationId xmlns:a16="http://schemas.microsoft.com/office/drawing/2014/main" id="{A204B4D1-AE42-5F47-79F5-EFB25E87FEB2}"/>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705483" y="2672832"/>
            <a:ext cx="4673865" cy="26012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7463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1BCB2B4-CA03-6494-1320-675270326554}"/>
              </a:ext>
            </a:extLst>
          </p:cNvPr>
          <p:cNvSpPr txBox="1">
            <a:spLocks/>
          </p:cNvSpPr>
          <p:nvPr/>
        </p:nvSpPr>
        <p:spPr>
          <a:xfrm>
            <a:off x="1046745" y="586822"/>
            <a:ext cx="4963285" cy="1645920"/>
          </a:xfrm>
          <a:prstGeom prst="rect">
            <a:avLst/>
          </a:prstGeom>
        </p:spPr>
        <p:txBody>
          <a:bodyPr vert="horz" lIns="91440" tIns="45720" rIns="91440" bIns="45720" rtlCol="0" anchor="t">
            <a:norm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200" dirty="0"/>
              <a:t>K-fold Cross validation</a:t>
            </a:r>
          </a:p>
        </p:txBody>
      </p:sp>
      <p:pic>
        <p:nvPicPr>
          <p:cNvPr id="8" name="Picture 7">
            <a:extLst>
              <a:ext uri="{FF2B5EF4-FFF2-40B4-BE49-F238E27FC236}">
                <a16:creationId xmlns:a16="http://schemas.microsoft.com/office/drawing/2014/main" id="{DC63F29A-FF87-91E1-25A8-4341CA98E08E}"/>
              </a:ext>
            </a:extLst>
          </p:cNvPr>
          <p:cNvPicPr>
            <a:picLocks noChangeAspect="1"/>
          </p:cNvPicPr>
          <p:nvPr/>
        </p:nvPicPr>
        <p:blipFill>
          <a:blip r:embed="rId2"/>
          <a:stretch>
            <a:fillRect/>
          </a:stretch>
        </p:blipFill>
        <p:spPr>
          <a:xfrm>
            <a:off x="2818895" y="1530609"/>
            <a:ext cx="6554209" cy="4464997"/>
          </a:xfrm>
          <a:prstGeom prst="rect">
            <a:avLst/>
          </a:prstGeom>
        </p:spPr>
      </p:pic>
    </p:spTree>
    <p:extLst>
      <p:ext uri="{BB962C8B-B14F-4D97-AF65-F5344CB8AC3E}">
        <p14:creationId xmlns:p14="http://schemas.microsoft.com/office/powerpoint/2010/main" val="6379895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E63EAED7-C2C5-3BD8-C1DE-227CC27B75E2}"/>
              </a:ext>
            </a:extLst>
          </p:cNvPr>
          <p:cNvSpPr>
            <a:spLocks noGrp="1"/>
          </p:cNvSpPr>
          <p:nvPr>
            <p:ph type="title"/>
          </p:nvPr>
        </p:nvSpPr>
        <p:spPr>
          <a:xfrm>
            <a:off x="1078523" y="300939"/>
            <a:ext cx="8798169" cy="1086201"/>
          </a:xfrm>
        </p:spPr>
        <p:txBody>
          <a:bodyPr/>
          <a:lstStyle/>
          <a:p>
            <a:r>
              <a:rPr lang="en-US" dirty="0"/>
              <a:t>Decision Tree</a:t>
            </a:r>
          </a:p>
        </p:txBody>
      </p:sp>
      <p:pic>
        <p:nvPicPr>
          <p:cNvPr id="5" name="Picture 2">
            <a:extLst>
              <a:ext uri="{FF2B5EF4-FFF2-40B4-BE49-F238E27FC236}">
                <a16:creationId xmlns:a16="http://schemas.microsoft.com/office/drawing/2014/main" id="{F1244FE9-C4B7-06ED-62B8-A9AB1A5CB9B4}"/>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330701" y="2689350"/>
            <a:ext cx="7530597" cy="3936593"/>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DF1BC573-F409-3506-0904-21E02E305257}"/>
              </a:ext>
            </a:extLst>
          </p:cNvPr>
          <p:cNvSpPr txBox="1"/>
          <p:nvPr/>
        </p:nvSpPr>
        <p:spPr>
          <a:xfrm>
            <a:off x="437662" y="1976106"/>
            <a:ext cx="10275277" cy="584775"/>
          </a:xfrm>
          <a:prstGeom prst="rect">
            <a:avLst/>
          </a:prstGeom>
          <a:noFill/>
        </p:spPr>
        <p:txBody>
          <a:bodyPr wrap="square" rtlCol="0">
            <a:spAutoFit/>
          </a:bodyPr>
          <a:lstStyle/>
          <a:p>
            <a:r>
              <a:rPr lang="en-US" sz="1600" dirty="0"/>
              <a:t>Example rule: If the crime is not coded as “against property”, and not coded as “against a person”, and it is in the NIBRS “Miscellaneous”/other category, THEN the tree predicts Fraud &amp; Embezzlement.</a:t>
            </a:r>
          </a:p>
        </p:txBody>
      </p:sp>
      <p:pic>
        <p:nvPicPr>
          <p:cNvPr id="8" name="Picture 7" descr="A close-up of a computer screen&#10;&#10;AI-generated content may be incorrect.">
            <a:extLst>
              <a:ext uri="{FF2B5EF4-FFF2-40B4-BE49-F238E27FC236}">
                <a16:creationId xmlns:a16="http://schemas.microsoft.com/office/drawing/2014/main" id="{2A45DF6A-68F4-69A7-5D18-542BE3AF2E31}"/>
              </a:ext>
            </a:extLst>
          </p:cNvPr>
          <p:cNvPicPr>
            <a:picLocks noChangeAspect="1"/>
          </p:cNvPicPr>
          <p:nvPr/>
        </p:nvPicPr>
        <p:blipFill>
          <a:blip r:embed="rId3"/>
          <a:stretch>
            <a:fillRect/>
          </a:stretch>
        </p:blipFill>
        <p:spPr>
          <a:xfrm>
            <a:off x="4591065" y="1089173"/>
            <a:ext cx="5744308" cy="811943"/>
          </a:xfrm>
          <a:prstGeom prst="rect">
            <a:avLst/>
          </a:prstGeom>
        </p:spPr>
      </p:pic>
    </p:spTree>
    <p:extLst>
      <p:ext uri="{BB962C8B-B14F-4D97-AF65-F5344CB8AC3E}">
        <p14:creationId xmlns:p14="http://schemas.microsoft.com/office/powerpoint/2010/main" val="14020246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E87697-440E-1B27-562E-4553CEABE2AB}"/>
              </a:ext>
            </a:extLst>
          </p:cNvPr>
          <p:cNvSpPr>
            <a:spLocks noGrp="1"/>
          </p:cNvSpPr>
          <p:nvPr>
            <p:ph type="title"/>
          </p:nvPr>
        </p:nvSpPr>
        <p:spPr/>
        <p:txBody>
          <a:bodyPr/>
          <a:lstStyle/>
          <a:p>
            <a:r>
              <a:rPr lang="en-US" dirty="0"/>
              <a:t>Clustering</a:t>
            </a:r>
          </a:p>
        </p:txBody>
      </p:sp>
      <p:grpSp>
        <p:nvGrpSpPr>
          <p:cNvPr id="35" name="Group 34">
            <a:extLst>
              <a:ext uri="{FF2B5EF4-FFF2-40B4-BE49-F238E27FC236}">
                <a16:creationId xmlns:a16="http://schemas.microsoft.com/office/drawing/2014/main" id="{E0AD54CA-94C1-4B14-F9B0-9D6C4306E3EB}"/>
              </a:ext>
            </a:extLst>
          </p:cNvPr>
          <p:cNvGrpSpPr/>
          <p:nvPr/>
        </p:nvGrpSpPr>
        <p:grpSpPr>
          <a:xfrm>
            <a:off x="1866455" y="1853248"/>
            <a:ext cx="8459090" cy="977205"/>
            <a:chOff x="768546" y="1464452"/>
            <a:chExt cx="5732029" cy="977205"/>
          </a:xfrm>
        </p:grpSpPr>
        <p:sp>
          <p:nvSpPr>
            <p:cNvPr id="6" name="Text 1">
              <a:extLst>
                <a:ext uri="{FF2B5EF4-FFF2-40B4-BE49-F238E27FC236}">
                  <a16:creationId xmlns:a16="http://schemas.microsoft.com/office/drawing/2014/main" id="{5B81A89E-FBF2-7AA0-60A5-D77E3521D2FF}"/>
                </a:ext>
              </a:extLst>
            </p:cNvPr>
            <p:cNvSpPr/>
            <p:nvPr/>
          </p:nvSpPr>
          <p:spPr>
            <a:xfrm>
              <a:off x="768546" y="1464452"/>
              <a:ext cx="5732029" cy="977205"/>
            </a:xfrm>
            <a:prstGeom prst="roundRect">
              <a:avLst>
                <a:gd name="adj" fmla="val 7798"/>
              </a:avLst>
            </a:prstGeom>
            <a:solidFill>
              <a:srgbClr val="F1F5F9"/>
            </a:solidFill>
            <a:ln/>
          </p:spPr>
          <p:txBody>
            <a:bodyPr wrap="square" rtlCol="0" anchor="ctr"/>
            <a:lstStyle/>
            <a:p>
              <a:pPr marL="0" indent="0">
                <a:buNone/>
              </a:pPr>
              <a:endParaRPr lang="en-US" dirty="0"/>
            </a:p>
          </p:txBody>
        </p:sp>
        <p:sp>
          <p:nvSpPr>
            <p:cNvPr id="8" name="Text 3">
              <a:extLst>
                <a:ext uri="{FF2B5EF4-FFF2-40B4-BE49-F238E27FC236}">
                  <a16:creationId xmlns:a16="http://schemas.microsoft.com/office/drawing/2014/main" id="{B9380975-FA5A-39C1-04C8-DD5345C165D9}"/>
                </a:ext>
              </a:extLst>
            </p:cNvPr>
            <p:cNvSpPr/>
            <p:nvPr/>
          </p:nvSpPr>
          <p:spPr>
            <a:xfrm>
              <a:off x="911897" y="1635902"/>
              <a:ext cx="2612845" cy="186630"/>
            </a:xfrm>
            <a:prstGeom prst="rect">
              <a:avLst/>
            </a:prstGeom>
            <a:noFill/>
            <a:ln/>
          </p:spPr>
          <p:txBody>
            <a:bodyPr wrap="square" lIns="0" tIns="0" rIns="0" bIns="0" rtlCol="0" anchor="t"/>
            <a:lstStyle/>
            <a:p>
              <a:pPr marL="0" indent="0" algn="l">
                <a:lnSpc>
                  <a:spcPts val="1470"/>
                </a:lnSpc>
                <a:spcAft>
                  <a:spcPts val="600"/>
                </a:spcAft>
                <a:buNone/>
              </a:pPr>
              <a:r>
                <a:rPr lang="en-US" sz="1050" b="1" dirty="0">
                  <a:solidFill>
                    <a:schemeClr val="bg1">
                      <a:lumMod val="95000"/>
                      <a:lumOff val="5000"/>
                    </a:schemeClr>
                  </a:solidFill>
                  <a:latin typeface="Arial" pitchFamily="34" charset="0"/>
                  <a:ea typeface="Arial" pitchFamily="34" charset="-122"/>
                  <a:cs typeface="Arial" pitchFamily="34" charset="-120"/>
                </a:rPr>
                <a:t>METHODOLOGY</a:t>
              </a:r>
              <a:endParaRPr lang="en-US" sz="1050" dirty="0">
                <a:solidFill>
                  <a:schemeClr val="bg1">
                    <a:lumMod val="95000"/>
                    <a:lumOff val="5000"/>
                  </a:schemeClr>
                </a:solidFill>
              </a:endParaRPr>
            </a:p>
          </p:txBody>
        </p:sp>
        <p:sp>
          <p:nvSpPr>
            <p:cNvPr id="9" name="Text 4">
              <a:extLst>
                <a:ext uri="{FF2B5EF4-FFF2-40B4-BE49-F238E27FC236}">
                  <a16:creationId xmlns:a16="http://schemas.microsoft.com/office/drawing/2014/main" id="{4A7716E4-F13D-B4CB-A8ED-4A6972750C2F}"/>
                </a:ext>
              </a:extLst>
            </p:cNvPr>
            <p:cNvSpPr/>
            <p:nvPr/>
          </p:nvSpPr>
          <p:spPr>
            <a:xfrm>
              <a:off x="911897" y="1898733"/>
              <a:ext cx="2612845" cy="371475"/>
            </a:xfrm>
            <a:prstGeom prst="rect">
              <a:avLst/>
            </a:prstGeom>
            <a:noFill/>
            <a:ln/>
          </p:spPr>
          <p:txBody>
            <a:bodyPr wrap="square" lIns="0" tIns="0" rIns="0" bIns="0" rtlCol="0" anchor="t"/>
            <a:lstStyle/>
            <a:p>
              <a:pPr marL="0" indent="0" algn="l">
                <a:lnSpc>
                  <a:spcPts val="1463"/>
                </a:lnSpc>
                <a:buNone/>
              </a:pPr>
              <a:r>
                <a:rPr lang="en-US" sz="975" dirty="0">
                  <a:solidFill>
                    <a:srgbClr val="1E293B"/>
                  </a:solidFill>
                  <a:latin typeface="Arial" pitchFamily="34" charset="0"/>
                  <a:ea typeface="Arial" pitchFamily="34" charset="-122"/>
                  <a:cs typeface="Arial" pitchFamily="34" charset="-120"/>
                </a:rPr>
                <a:t>K-Means clustering with K=10 clusters to identify anomalous police incident records</a:t>
              </a:r>
              <a:endParaRPr lang="en-US" sz="975" dirty="0"/>
            </a:p>
          </p:txBody>
        </p:sp>
      </p:grpSp>
      <p:grpSp>
        <p:nvGrpSpPr>
          <p:cNvPr id="31" name="Group 30">
            <a:extLst>
              <a:ext uri="{FF2B5EF4-FFF2-40B4-BE49-F238E27FC236}">
                <a16:creationId xmlns:a16="http://schemas.microsoft.com/office/drawing/2014/main" id="{EA834EFE-2B56-7B7B-31C2-717E2A0E6A1E}"/>
              </a:ext>
            </a:extLst>
          </p:cNvPr>
          <p:cNvGrpSpPr/>
          <p:nvPr/>
        </p:nvGrpSpPr>
        <p:grpSpPr>
          <a:xfrm>
            <a:off x="1866455" y="3117735"/>
            <a:ext cx="8462033" cy="1238101"/>
            <a:chOff x="1214316" y="3429000"/>
            <a:chExt cx="8763000" cy="1238101"/>
          </a:xfrm>
        </p:grpSpPr>
        <p:sp>
          <p:nvSpPr>
            <p:cNvPr id="14" name="Text 9">
              <a:extLst>
                <a:ext uri="{FF2B5EF4-FFF2-40B4-BE49-F238E27FC236}">
                  <a16:creationId xmlns:a16="http://schemas.microsoft.com/office/drawing/2014/main" id="{C260564E-E582-0FBB-8728-A2CBEA88619C}"/>
                </a:ext>
              </a:extLst>
            </p:cNvPr>
            <p:cNvSpPr/>
            <p:nvPr/>
          </p:nvSpPr>
          <p:spPr>
            <a:xfrm>
              <a:off x="1214316" y="3429000"/>
              <a:ext cx="8763000" cy="1238101"/>
            </a:xfrm>
            <a:prstGeom prst="roundRect">
              <a:avLst>
                <a:gd name="adj" fmla="val 6155"/>
              </a:avLst>
            </a:prstGeom>
            <a:solidFill>
              <a:srgbClr val="E2E8F0"/>
            </a:solidFill>
            <a:ln/>
          </p:spPr>
          <p:txBody>
            <a:bodyPr wrap="square" rtlCol="0" anchor="ctr"/>
            <a:lstStyle/>
            <a:p>
              <a:pPr marL="0" indent="0">
                <a:buNone/>
              </a:pPr>
              <a:endParaRPr lang="en-US" dirty="0"/>
            </a:p>
          </p:txBody>
        </p:sp>
        <p:sp>
          <p:nvSpPr>
            <p:cNvPr id="15" name="Text 10">
              <a:extLst>
                <a:ext uri="{FF2B5EF4-FFF2-40B4-BE49-F238E27FC236}">
                  <a16:creationId xmlns:a16="http://schemas.microsoft.com/office/drawing/2014/main" id="{514F7140-0EE9-6C44-8071-01CECDE9517F}"/>
                </a:ext>
              </a:extLst>
            </p:cNvPr>
            <p:cNvSpPr/>
            <p:nvPr/>
          </p:nvSpPr>
          <p:spPr>
            <a:xfrm>
              <a:off x="1385766" y="3600450"/>
              <a:ext cx="8588502" cy="186630"/>
            </a:xfrm>
            <a:prstGeom prst="rect">
              <a:avLst/>
            </a:prstGeom>
            <a:noFill/>
            <a:ln/>
          </p:spPr>
          <p:txBody>
            <a:bodyPr wrap="square" lIns="0" tIns="0" rIns="0" bIns="0" rtlCol="0" anchor="t"/>
            <a:lstStyle/>
            <a:p>
              <a:pPr marL="0" indent="0" algn="l">
                <a:lnSpc>
                  <a:spcPts val="1470"/>
                </a:lnSpc>
                <a:spcAft>
                  <a:spcPts val="750"/>
                </a:spcAft>
                <a:buNone/>
              </a:pPr>
              <a:r>
                <a:rPr lang="en-US" sz="1050" b="1" dirty="0">
                  <a:solidFill>
                    <a:srgbClr val="0F172A"/>
                  </a:solidFill>
                  <a:latin typeface="Arial" pitchFamily="34" charset="0"/>
                  <a:ea typeface="Arial" pitchFamily="34" charset="-122"/>
                  <a:cs typeface="Arial" pitchFamily="34" charset="-120"/>
                </a:rPr>
                <a:t>Key Features Used</a:t>
              </a:r>
              <a:endParaRPr lang="en-US" sz="1050" dirty="0"/>
            </a:p>
          </p:txBody>
        </p:sp>
        <p:sp>
          <p:nvSpPr>
            <p:cNvPr id="16" name="Text 11">
              <a:extLst>
                <a:ext uri="{FF2B5EF4-FFF2-40B4-BE49-F238E27FC236}">
                  <a16:creationId xmlns:a16="http://schemas.microsoft.com/office/drawing/2014/main" id="{5A73E0F9-C3DB-0A39-6D2B-C5277281143C}"/>
                </a:ext>
              </a:extLst>
            </p:cNvPr>
            <p:cNvSpPr/>
            <p:nvPr/>
          </p:nvSpPr>
          <p:spPr>
            <a:xfrm>
              <a:off x="1385766" y="3882330"/>
              <a:ext cx="4177665" cy="159990"/>
            </a:xfrm>
            <a:prstGeom prst="rect">
              <a:avLst/>
            </a:prstGeom>
            <a:noFill/>
            <a:ln/>
          </p:spPr>
          <p:txBody>
            <a:bodyPr wrap="square" lIns="0" tIns="0" rIns="0" bIns="0" rtlCol="0" anchor="t"/>
            <a:lstStyle/>
            <a:p>
              <a:pPr marL="0" indent="0" algn="l">
                <a:lnSpc>
                  <a:spcPts val="1260"/>
                </a:lnSpc>
                <a:spcAft>
                  <a:spcPts val="450"/>
                </a:spcAft>
                <a:buNone/>
              </a:pPr>
              <a:r>
                <a:rPr lang="en-US" sz="900" b="1" dirty="0">
                  <a:solidFill>
                    <a:srgbClr val="64748B"/>
                  </a:solidFill>
                  <a:latin typeface="Arial" pitchFamily="34" charset="0"/>
                  <a:ea typeface="Arial" pitchFamily="34" charset="-122"/>
                  <a:cs typeface="Arial" pitchFamily="34" charset="-120"/>
                </a:rPr>
                <a:t>CATEGORICAL</a:t>
              </a:r>
              <a:endParaRPr lang="en-US" sz="900" dirty="0"/>
            </a:p>
          </p:txBody>
        </p:sp>
        <p:sp>
          <p:nvSpPr>
            <p:cNvPr id="17" name="Text 12">
              <a:extLst>
                <a:ext uri="{FF2B5EF4-FFF2-40B4-BE49-F238E27FC236}">
                  <a16:creationId xmlns:a16="http://schemas.microsoft.com/office/drawing/2014/main" id="{DDF9EFB8-3648-0402-3FE7-94A8944FF59D}"/>
                </a:ext>
              </a:extLst>
            </p:cNvPr>
            <p:cNvSpPr/>
            <p:nvPr/>
          </p:nvSpPr>
          <p:spPr>
            <a:xfrm>
              <a:off x="1385766" y="4099471"/>
              <a:ext cx="4177665" cy="396180"/>
            </a:xfrm>
            <a:prstGeom prst="rect">
              <a:avLst/>
            </a:prstGeom>
            <a:noFill/>
            <a:ln/>
          </p:spPr>
          <p:txBody>
            <a:bodyPr wrap="square" lIns="0" tIns="0" rIns="0" bIns="0" rtlCol="0" anchor="t"/>
            <a:lstStyle/>
            <a:p>
              <a:pPr marL="0" indent="0" algn="l">
                <a:lnSpc>
                  <a:spcPts val="1560"/>
                </a:lnSpc>
                <a:buNone/>
              </a:pPr>
              <a:r>
                <a:rPr lang="en-US" sz="975" dirty="0">
                  <a:solidFill>
                    <a:srgbClr val="0F172A"/>
                  </a:solidFill>
                  <a:latin typeface="Arial" pitchFamily="34" charset="0"/>
                  <a:ea typeface="Arial" pitchFamily="34" charset="-122"/>
                  <a:cs typeface="Arial" pitchFamily="34" charset="-120"/>
                </a:rPr>
                <a:t>Watch • Day of Week</a:t>
              </a:r>
              <a:endParaRPr lang="en-US" sz="975" dirty="0"/>
            </a:p>
            <a:p>
              <a:pPr marL="0" indent="0" algn="l">
                <a:lnSpc>
                  <a:spcPts val="1560"/>
                </a:lnSpc>
                <a:buNone/>
              </a:pPr>
              <a:r>
                <a:rPr lang="en-US" sz="975" dirty="0">
                  <a:solidFill>
                    <a:srgbClr val="0F172A"/>
                  </a:solidFill>
                  <a:latin typeface="Arial" pitchFamily="34" charset="0"/>
                  <a:ea typeface="Arial" pitchFamily="34" charset="-122"/>
                  <a:cs typeface="Arial" pitchFamily="34" charset="-120"/>
                </a:rPr>
                <a:t> Crime Against • Crime Category</a:t>
              </a:r>
              <a:endParaRPr lang="en-US" sz="975" dirty="0"/>
            </a:p>
          </p:txBody>
        </p:sp>
        <p:sp>
          <p:nvSpPr>
            <p:cNvPr id="18" name="Text 13">
              <a:extLst>
                <a:ext uri="{FF2B5EF4-FFF2-40B4-BE49-F238E27FC236}">
                  <a16:creationId xmlns:a16="http://schemas.microsoft.com/office/drawing/2014/main" id="{C7062D6E-B6D6-D537-FBEF-B0F619ED4FFE}"/>
                </a:ext>
              </a:extLst>
            </p:cNvPr>
            <p:cNvSpPr/>
            <p:nvPr/>
          </p:nvSpPr>
          <p:spPr>
            <a:xfrm>
              <a:off x="5710116" y="3882330"/>
              <a:ext cx="4177665" cy="159990"/>
            </a:xfrm>
            <a:prstGeom prst="rect">
              <a:avLst/>
            </a:prstGeom>
            <a:noFill/>
            <a:ln/>
          </p:spPr>
          <p:txBody>
            <a:bodyPr wrap="square" lIns="0" tIns="0" rIns="0" bIns="0" rtlCol="0" anchor="t"/>
            <a:lstStyle/>
            <a:p>
              <a:pPr marL="0" indent="0" algn="l">
                <a:lnSpc>
                  <a:spcPts val="1260"/>
                </a:lnSpc>
                <a:spcAft>
                  <a:spcPts val="450"/>
                </a:spcAft>
                <a:buNone/>
              </a:pPr>
              <a:r>
                <a:rPr lang="en-US" sz="900" b="1" dirty="0">
                  <a:solidFill>
                    <a:srgbClr val="64748B"/>
                  </a:solidFill>
                  <a:latin typeface="Arial" pitchFamily="34" charset="0"/>
                  <a:ea typeface="Arial" pitchFamily="34" charset="-122"/>
                  <a:cs typeface="Arial" pitchFamily="34" charset="-120"/>
                </a:rPr>
                <a:t>NUMERIC</a:t>
              </a:r>
              <a:endParaRPr lang="en-US" sz="900" dirty="0"/>
            </a:p>
          </p:txBody>
        </p:sp>
        <p:sp>
          <p:nvSpPr>
            <p:cNvPr id="19" name="Text 14">
              <a:extLst>
                <a:ext uri="{FF2B5EF4-FFF2-40B4-BE49-F238E27FC236}">
                  <a16:creationId xmlns:a16="http://schemas.microsoft.com/office/drawing/2014/main" id="{3E5405AB-22C0-64C1-E382-29BDD3A52A5B}"/>
                </a:ext>
              </a:extLst>
            </p:cNvPr>
            <p:cNvSpPr/>
            <p:nvPr/>
          </p:nvSpPr>
          <p:spPr>
            <a:xfrm>
              <a:off x="5710116" y="4099471"/>
              <a:ext cx="4177665" cy="396180"/>
            </a:xfrm>
            <a:prstGeom prst="rect">
              <a:avLst/>
            </a:prstGeom>
            <a:noFill/>
            <a:ln/>
          </p:spPr>
          <p:txBody>
            <a:bodyPr wrap="square" lIns="0" tIns="0" rIns="0" bIns="0" rtlCol="0" anchor="t"/>
            <a:lstStyle/>
            <a:p>
              <a:pPr marL="0" indent="0" algn="l">
                <a:lnSpc>
                  <a:spcPts val="1560"/>
                </a:lnSpc>
                <a:buNone/>
              </a:pPr>
              <a:r>
                <a:rPr lang="en-US" sz="975" dirty="0">
                  <a:solidFill>
                    <a:srgbClr val="0F172A"/>
                  </a:solidFill>
                  <a:latin typeface="Arial" pitchFamily="34" charset="0"/>
                  <a:ea typeface="Arial" pitchFamily="34" charset="-122"/>
                  <a:cs typeface="Arial" pitchFamily="34" charset="-120"/>
                </a:rPr>
                <a:t>Response Time • Time Taken to Report</a:t>
              </a:r>
              <a:endParaRPr lang="en-US" sz="975" dirty="0"/>
            </a:p>
            <a:p>
              <a:pPr marL="0" indent="0" algn="l">
                <a:lnSpc>
                  <a:spcPts val="1560"/>
                </a:lnSpc>
                <a:buNone/>
              </a:pPr>
              <a:r>
                <a:rPr lang="en-US" sz="975" dirty="0">
                  <a:solidFill>
                    <a:srgbClr val="0F172A"/>
                  </a:solidFill>
                  <a:latin typeface="Arial" pitchFamily="34" charset="0"/>
                  <a:ea typeface="Arial" pitchFamily="34" charset="-122"/>
                  <a:cs typeface="Arial" pitchFamily="34" charset="-120"/>
                </a:rPr>
                <a:t> X &amp; Y Coordinates</a:t>
              </a:r>
              <a:endParaRPr lang="en-US" sz="975" dirty="0"/>
            </a:p>
          </p:txBody>
        </p:sp>
      </p:grpSp>
      <p:grpSp>
        <p:nvGrpSpPr>
          <p:cNvPr id="32" name="Group 31">
            <a:extLst>
              <a:ext uri="{FF2B5EF4-FFF2-40B4-BE49-F238E27FC236}">
                <a16:creationId xmlns:a16="http://schemas.microsoft.com/office/drawing/2014/main" id="{C5876DD4-7BC6-FC60-8A90-2130FA5E2BDD}"/>
              </a:ext>
            </a:extLst>
          </p:cNvPr>
          <p:cNvGrpSpPr/>
          <p:nvPr/>
        </p:nvGrpSpPr>
        <p:grpSpPr>
          <a:xfrm>
            <a:off x="1866455" y="4595074"/>
            <a:ext cx="2819400" cy="1034207"/>
            <a:chOff x="1214316" y="4838551"/>
            <a:chExt cx="2819400" cy="1034207"/>
          </a:xfrm>
        </p:grpSpPr>
        <p:pic>
          <p:nvPicPr>
            <p:cNvPr id="20" name="Image 0" descr="/tmp/rasterized-gradient-cb9044fd.png">
              <a:extLst>
                <a:ext uri="{FF2B5EF4-FFF2-40B4-BE49-F238E27FC236}">
                  <a16:creationId xmlns:a16="http://schemas.microsoft.com/office/drawing/2014/main" id="{F34550D8-30E8-4315-5EE5-96E30DD68CBE}"/>
                </a:ext>
              </a:extLst>
            </p:cNvPr>
            <p:cNvPicPr>
              <a:picLocks noChangeAspect="1"/>
            </p:cNvPicPr>
            <p:nvPr/>
          </p:nvPicPr>
          <p:blipFill>
            <a:blip r:embed="rId2">
              <a:duotone>
                <a:schemeClr val="accent5">
                  <a:shade val="45000"/>
                  <a:satMod val="135000"/>
                </a:schemeClr>
                <a:prstClr val="white"/>
              </a:duotone>
            </a:blip>
            <a:stretch>
              <a:fillRect/>
            </a:stretch>
          </p:blipFill>
          <p:spPr>
            <a:xfrm>
              <a:off x="1214316" y="4838551"/>
              <a:ext cx="2819400" cy="1034207"/>
            </a:xfrm>
            <a:prstGeom prst="rect">
              <a:avLst/>
            </a:prstGeom>
            <a:ln>
              <a:noFill/>
            </a:ln>
            <a:effectLst>
              <a:outerShdw blurRad="292100" dist="139700" dir="2700000" algn="tl" rotWithShape="0">
                <a:srgbClr val="333333">
                  <a:alpha val="65000"/>
                </a:srgbClr>
              </a:outerShdw>
            </a:effectLst>
          </p:spPr>
        </p:pic>
        <p:sp>
          <p:nvSpPr>
            <p:cNvPr id="21" name="Text 15">
              <a:extLst>
                <a:ext uri="{FF2B5EF4-FFF2-40B4-BE49-F238E27FC236}">
                  <a16:creationId xmlns:a16="http://schemas.microsoft.com/office/drawing/2014/main" id="{24FDA944-F96F-86D4-9E52-13DAB634EF9A}"/>
                </a:ext>
              </a:extLst>
            </p:cNvPr>
            <p:cNvSpPr/>
            <p:nvPr/>
          </p:nvSpPr>
          <p:spPr>
            <a:xfrm>
              <a:off x="1361001" y="5010001"/>
              <a:ext cx="2526030" cy="479971"/>
            </a:xfrm>
            <a:prstGeom prst="rect">
              <a:avLst/>
            </a:prstGeom>
            <a:noFill/>
            <a:ln/>
          </p:spPr>
          <p:txBody>
            <a:bodyPr wrap="square" lIns="0" tIns="0" rIns="0" bIns="0" rtlCol="0" anchor="t"/>
            <a:lstStyle/>
            <a:p>
              <a:pPr marL="0" indent="0" algn="ctr">
                <a:lnSpc>
                  <a:spcPts val="3780"/>
                </a:lnSpc>
                <a:spcAft>
                  <a:spcPts val="300"/>
                </a:spcAft>
                <a:buNone/>
              </a:pPr>
              <a:r>
                <a:rPr lang="en-US" sz="2700" b="1" dirty="0">
                  <a:solidFill>
                    <a:srgbClr val="FFFFFF"/>
                  </a:solidFill>
                  <a:latin typeface="Arial" pitchFamily="34" charset="0"/>
                  <a:ea typeface="Arial" pitchFamily="34" charset="-122"/>
                  <a:cs typeface="Arial" pitchFamily="34" charset="-120"/>
                </a:rPr>
                <a:t>418</a:t>
              </a:r>
              <a:endParaRPr lang="en-US" sz="2700" dirty="0"/>
            </a:p>
          </p:txBody>
        </p:sp>
        <p:sp>
          <p:nvSpPr>
            <p:cNvPr id="22" name="Text 16">
              <a:extLst>
                <a:ext uri="{FF2B5EF4-FFF2-40B4-BE49-F238E27FC236}">
                  <a16:creationId xmlns:a16="http://schemas.microsoft.com/office/drawing/2014/main" id="{0ED85B41-292A-88C0-97C5-AC08602F2DDC}"/>
                </a:ext>
              </a:extLst>
            </p:cNvPr>
            <p:cNvSpPr/>
            <p:nvPr/>
          </p:nvSpPr>
          <p:spPr>
            <a:xfrm>
              <a:off x="1361001" y="5528072"/>
              <a:ext cx="2526030" cy="173236"/>
            </a:xfrm>
            <a:prstGeom prst="rect">
              <a:avLst/>
            </a:prstGeom>
            <a:noFill/>
            <a:ln/>
          </p:spPr>
          <p:txBody>
            <a:bodyPr wrap="square" lIns="0" tIns="0" rIns="0" bIns="0" rtlCol="0" anchor="t"/>
            <a:lstStyle/>
            <a:p>
              <a:pPr marL="0" indent="0" algn="ctr">
                <a:lnSpc>
                  <a:spcPts val="1365"/>
                </a:lnSpc>
                <a:buNone/>
              </a:pPr>
              <a:r>
                <a:rPr lang="en-US" sz="975" dirty="0">
                  <a:solidFill>
                    <a:srgbClr val="FFFFFF">
                      <a:alpha val="90000"/>
                    </a:srgbClr>
                  </a:solidFill>
                  <a:latin typeface="Arial" pitchFamily="34" charset="0"/>
                  <a:ea typeface="Arial" pitchFamily="34" charset="-122"/>
                  <a:cs typeface="Arial" pitchFamily="34" charset="-120"/>
                </a:rPr>
                <a:t>Outliers Detected</a:t>
              </a:r>
              <a:endParaRPr lang="en-US" sz="975" dirty="0"/>
            </a:p>
          </p:txBody>
        </p:sp>
      </p:grpSp>
      <p:grpSp>
        <p:nvGrpSpPr>
          <p:cNvPr id="33" name="Group 32">
            <a:extLst>
              <a:ext uri="{FF2B5EF4-FFF2-40B4-BE49-F238E27FC236}">
                <a16:creationId xmlns:a16="http://schemas.microsoft.com/office/drawing/2014/main" id="{71029937-4F42-5B9D-89F0-F98086AEF09B}"/>
              </a:ext>
            </a:extLst>
          </p:cNvPr>
          <p:cNvGrpSpPr/>
          <p:nvPr/>
        </p:nvGrpSpPr>
        <p:grpSpPr>
          <a:xfrm>
            <a:off x="4808338" y="4595074"/>
            <a:ext cx="2819400" cy="1034207"/>
            <a:chOff x="4186116" y="4838551"/>
            <a:chExt cx="2819400" cy="1034207"/>
          </a:xfrm>
        </p:grpSpPr>
        <p:pic>
          <p:nvPicPr>
            <p:cNvPr id="23" name="Image 1" descr="/tmp/rasterized-gradient-b47926b3.png">
              <a:extLst>
                <a:ext uri="{FF2B5EF4-FFF2-40B4-BE49-F238E27FC236}">
                  <a16:creationId xmlns:a16="http://schemas.microsoft.com/office/drawing/2014/main" id="{396DE592-ED1D-ACEA-3F3C-FC97468FEA0B}"/>
                </a:ext>
              </a:extLst>
            </p:cNvPr>
            <p:cNvPicPr>
              <a:picLocks noChangeAspect="1"/>
            </p:cNvPicPr>
            <p:nvPr/>
          </p:nvPicPr>
          <p:blipFill>
            <a:blip r:embed="rId3">
              <a:duotone>
                <a:prstClr val="black"/>
                <a:schemeClr val="accent5">
                  <a:tint val="45000"/>
                  <a:satMod val="400000"/>
                </a:schemeClr>
              </a:duotone>
            </a:blip>
            <a:stretch>
              <a:fillRect/>
            </a:stretch>
          </p:blipFill>
          <p:spPr>
            <a:xfrm>
              <a:off x="4186116" y="4838551"/>
              <a:ext cx="2819400" cy="1034207"/>
            </a:xfrm>
            <a:prstGeom prst="rect">
              <a:avLst/>
            </a:prstGeom>
          </p:spPr>
        </p:pic>
        <p:sp>
          <p:nvSpPr>
            <p:cNvPr id="24" name="Text 17">
              <a:extLst>
                <a:ext uri="{FF2B5EF4-FFF2-40B4-BE49-F238E27FC236}">
                  <a16:creationId xmlns:a16="http://schemas.microsoft.com/office/drawing/2014/main" id="{0165CDF9-37D4-544E-ECAE-2F08D570BC83}"/>
                </a:ext>
              </a:extLst>
            </p:cNvPr>
            <p:cNvSpPr/>
            <p:nvPr/>
          </p:nvSpPr>
          <p:spPr>
            <a:xfrm>
              <a:off x="4332801" y="5010001"/>
              <a:ext cx="2526030" cy="479971"/>
            </a:xfrm>
            <a:prstGeom prst="rect">
              <a:avLst/>
            </a:prstGeom>
            <a:noFill/>
            <a:ln/>
          </p:spPr>
          <p:txBody>
            <a:bodyPr wrap="square" lIns="0" tIns="0" rIns="0" bIns="0" rtlCol="0" anchor="t"/>
            <a:lstStyle/>
            <a:p>
              <a:pPr marL="0" indent="0" algn="ctr">
                <a:lnSpc>
                  <a:spcPts val="3780"/>
                </a:lnSpc>
                <a:spcAft>
                  <a:spcPts val="300"/>
                </a:spcAft>
                <a:buNone/>
              </a:pPr>
              <a:r>
                <a:rPr lang="en-US" sz="2700" b="1" dirty="0">
                  <a:solidFill>
                    <a:srgbClr val="FFFFFF"/>
                  </a:solidFill>
                  <a:latin typeface="Arial" pitchFamily="34" charset="0"/>
                  <a:ea typeface="Arial" pitchFamily="34" charset="-122"/>
                  <a:cs typeface="Arial" pitchFamily="34" charset="-120"/>
                </a:rPr>
                <a:t>4.2%</a:t>
              </a:r>
              <a:endParaRPr lang="en-US" sz="2700" dirty="0"/>
            </a:p>
          </p:txBody>
        </p:sp>
        <p:sp>
          <p:nvSpPr>
            <p:cNvPr id="25" name="Text 18">
              <a:extLst>
                <a:ext uri="{FF2B5EF4-FFF2-40B4-BE49-F238E27FC236}">
                  <a16:creationId xmlns:a16="http://schemas.microsoft.com/office/drawing/2014/main" id="{BCC87BED-78B2-847F-79C2-46D2C437786A}"/>
                </a:ext>
              </a:extLst>
            </p:cNvPr>
            <p:cNvSpPr/>
            <p:nvPr/>
          </p:nvSpPr>
          <p:spPr>
            <a:xfrm>
              <a:off x="4332801" y="5528072"/>
              <a:ext cx="2526030" cy="173236"/>
            </a:xfrm>
            <a:prstGeom prst="rect">
              <a:avLst/>
            </a:prstGeom>
            <a:noFill/>
            <a:ln/>
          </p:spPr>
          <p:txBody>
            <a:bodyPr wrap="square" lIns="0" tIns="0" rIns="0" bIns="0" rtlCol="0" anchor="t"/>
            <a:lstStyle/>
            <a:p>
              <a:pPr marL="0" indent="0" algn="ctr">
                <a:lnSpc>
                  <a:spcPts val="1365"/>
                </a:lnSpc>
                <a:buNone/>
              </a:pPr>
              <a:r>
                <a:rPr lang="en-US" sz="975" dirty="0">
                  <a:solidFill>
                    <a:srgbClr val="FFFFFF">
                      <a:alpha val="90000"/>
                    </a:srgbClr>
                  </a:solidFill>
                  <a:latin typeface="Arial" pitchFamily="34" charset="0"/>
                  <a:ea typeface="Arial" pitchFamily="34" charset="-122"/>
                  <a:cs typeface="Arial" pitchFamily="34" charset="-120"/>
                </a:rPr>
                <a:t>of Total Dataset</a:t>
              </a:r>
              <a:endParaRPr lang="en-US" sz="975" dirty="0"/>
            </a:p>
          </p:txBody>
        </p:sp>
      </p:grpSp>
      <p:grpSp>
        <p:nvGrpSpPr>
          <p:cNvPr id="34" name="Group 33">
            <a:extLst>
              <a:ext uri="{FF2B5EF4-FFF2-40B4-BE49-F238E27FC236}">
                <a16:creationId xmlns:a16="http://schemas.microsoft.com/office/drawing/2014/main" id="{6251C070-E7DF-0CC7-452C-85DCD6DFCEAB}"/>
              </a:ext>
            </a:extLst>
          </p:cNvPr>
          <p:cNvGrpSpPr/>
          <p:nvPr/>
        </p:nvGrpSpPr>
        <p:grpSpPr>
          <a:xfrm>
            <a:off x="7786368" y="4595073"/>
            <a:ext cx="2588403" cy="1034207"/>
            <a:chOff x="7157916" y="4838551"/>
            <a:chExt cx="2819400" cy="1034207"/>
          </a:xfrm>
        </p:grpSpPr>
        <p:pic>
          <p:nvPicPr>
            <p:cNvPr id="26" name="Image 2" descr="/tmp/rasterized-gradient-a5c5ca5d.png">
              <a:extLst>
                <a:ext uri="{FF2B5EF4-FFF2-40B4-BE49-F238E27FC236}">
                  <a16:creationId xmlns:a16="http://schemas.microsoft.com/office/drawing/2014/main" id="{8133EAB7-1956-7121-CAA4-DDF90C4B708E}"/>
                </a:ext>
              </a:extLst>
            </p:cNvPr>
            <p:cNvPicPr>
              <a:picLocks noChangeAspect="1"/>
            </p:cNvPicPr>
            <p:nvPr/>
          </p:nvPicPr>
          <p:blipFill>
            <a:blip r:embed="rId4">
              <a:duotone>
                <a:schemeClr val="accent5">
                  <a:shade val="45000"/>
                  <a:satMod val="135000"/>
                </a:schemeClr>
                <a:prstClr val="white"/>
              </a:duotone>
            </a:blip>
            <a:stretch>
              <a:fillRect/>
            </a:stretch>
          </p:blipFill>
          <p:spPr>
            <a:xfrm>
              <a:off x="7157916" y="4838551"/>
              <a:ext cx="2819400" cy="1034207"/>
            </a:xfrm>
            <a:prstGeom prst="rect">
              <a:avLst/>
            </a:prstGeom>
          </p:spPr>
        </p:pic>
        <p:sp>
          <p:nvSpPr>
            <p:cNvPr id="27" name="Text 19">
              <a:extLst>
                <a:ext uri="{FF2B5EF4-FFF2-40B4-BE49-F238E27FC236}">
                  <a16:creationId xmlns:a16="http://schemas.microsoft.com/office/drawing/2014/main" id="{5449D63E-7035-9E24-B69C-BAA87DB68D51}"/>
                </a:ext>
              </a:extLst>
            </p:cNvPr>
            <p:cNvSpPr/>
            <p:nvPr/>
          </p:nvSpPr>
          <p:spPr>
            <a:xfrm>
              <a:off x="7304601" y="5010001"/>
              <a:ext cx="2526030" cy="479971"/>
            </a:xfrm>
            <a:prstGeom prst="rect">
              <a:avLst/>
            </a:prstGeom>
            <a:noFill/>
            <a:ln/>
          </p:spPr>
          <p:txBody>
            <a:bodyPr wrap="square" lIns="0" tIns="0" rIns="0" bIns="0" rtlCol="0" anchor="t"/>
            <a:lstStyle/>
            <a:p>
              <a:pPr marL="0" indent="0" algn="ctr">
                <a:lnSpc>
                  <a:spcPts val="3780"/>
                </a:lnSpc>
                <a:spcAft>
                  <a:spcPts val="300"/>
                </a:spcAft>
                <a:buNone/>
              </a:pPr>
              <a:r>
                <a:rPr lang="en-US" sz="2700" b="1" dirty="0">
                  <a:solidFill>
                    <a:srgbClr val="FFFFFF"/>
                  </a:solidFill>
                  <a:latin typeface="Arial" pitchFamily="34" charset="0"/>
                  <a:ea typeface="Arial" pitchFamily="34" charset="-122"/>
                  <a:cs typeface="Arial" pitchFamily="34" charset="-120"/>
                </a:rPr>
                <a:t>3</a:t>
              </a:r>
              <a:endParaRPr lang="en-US" sz="2700" dirty="0"/>
            </a:p>
          </p:txBody>
        </p:sp>
        <p:sp>
          <p:nvSpPr>
            <p:cNvPr id="28" name="Text 20">
              <a:extLst>
                <a:ext uri="{FF2B5EF4-FFF2-40B4-BE49-F238E27FC236}">
                  <a16:creationId xmlns:a16="http://schemas.microsoft.com/office/drawing/2014/main" id="{50D57533-BE0A-7C30-CFF4-1E843B7FDD4D}"/>
                </a:ext>
              </a:extLst>
            </p:cNvPr>
            <p:cNvSpPr/>
            <p:nvPr/>
          </p:nvSpPr>
          <p:spPr>
            <a:xfrm>
              <a:off x="7304601" y="5528072"/>
              <a:ext cx="2526030" cy="173236"/>
            </a:xfrm>
            <a:prstGeom prst="rect">
              <a:avLst/>
            </a:prstGeom>
            <a:noFill/>
            <a:ln/>
          </p:spPr>
          <p:txBody>
            <a:bodyPr wrap="square" lIns="0" tIns="0" rIns="0" bIns="0" rtlCol="0" anchor="t"/>
            <a:lstStyle/>
            <a:p>
              <a:pPr marL="0" indent="0" algn="ctr">
                <a:lnSpc>
                  <a:spcPts val="1365"/>
                </a:lnSpc>
                <a:buNone/>
              </a:pPr>
              <a:r>
                <a:rPr lang="en-US" sz="975" dirty="0">
                  <a:solidFill>
                    <a:srgbClr val="FFFFFF">
                      <a:alpha val="90000"/>
                    </a:srgbClr>
                  </a:solidFill>
                  <a:latin typeface="Arial" pitchFamily="34" charset="0"/>
                  <a:ea typeface="Arial" pitchFamily="34" charset="-122"/>
                  <a:cs typeface="Arial" pitchFamily="34" charset="-120"/>
                </a:rPr>
                <a:t>Outlier Clusters</a:t>
              </a:r>
              <a:endParaRPr lang="en-US" sz="975" dirty="0"/>
            </a:p>
          </p:txBody>
        </p:sp>
      </p:grpSp>
    </p:spTree>
    <p:extLst>
      <p:ext uri="{BB962C8B-B14F-4D97-AF65-F5344CB8AC3E}">
        <p14:creationId xmlns:p14="http://schemas.microsoft.com/office/powerpoint/2010/main" val="1766247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64F7BA-D739-CD62-373B-E0E3F67BA39F}"/>
              </a:ext>
            </a:extLst>
          </p:cNvPr>
          <p:cNvSpPr>
            <a:spLocks noGrp="1"/>
          </p:cNvSpPr>
          <p:nvPr>
            <p:ph type="title"/>
          </p:nvPr>
        </p:nvSpPr>
        <p:spPr/>
        <p:txBody>
          <a:bodyPr/>
          <a:lstStyle/>
          <a:p>
            <a:r>
              <a:rPr lang="en-US" dirty="0"/>
              <a:t>Elbow Diagram</a:t>
            </a:r>
          </a:p>
        </p:txBody>
      </p:sp>
      <p:pic>
        <p:nvPicPr>
          <p:cNvPr id="5" name="Content Placeholder 4">
            <a:extLst>
              <a:ext uri="{FF2B5EF4-FFF2-40B4-BE49-F238E27FC236}">
                <a16:creationId xmlns:a16="http://schemas.microsoft.com/office/drawing/2014/main" id="{EF3204CD-215B-430E-73CB-D911F3EBB793}"/>
              </a:ext>
            </a:extLst>
          </p:cNvPr>
          <p:cNvPicPr>
            <a:picLocks noGrp="1" noChangeAspect="1"/>
          </p:cNvPicPr>
          <p:nvPr>
            <p:ph idx="1"/>
          </p:nvPr>
        </p:nvPicPr>
        <p:blipFill>
          <a:blip r:embed="rId2"/>
          <a:stretch>
            <a:fillRect/>
          </a:stretch>
        </p:blipFill>
        <p:spPr>
          <a:xfrm>
            <a:off x="1527782" y="1567869"/>
            <a:ext cx="9136435" cy="4512285"/>
          </a:xfrm>
          <a:prstGeom prst="rect">
            <a:avLst/>
          </a:prstGeom>
        </p:spPr>
      </p:pic>
    </p:spTree>
    <p:extLst>
      <p:ext uri="{BB962C8B-B14F-4D97-AF65-F5344CB8AC3E}">
        <p14:creationId xmlns:p14="http://schemas.microsoft.com/office/powerpoint/2010/main" val="8261439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33FA84-3FCA-51AB-A848-0C779101C708}"/>
              </a:ext>
            </a:extLst>
          </p:cNvPr>
          <p:cNvSpPr>
            <a:spLocks noGrp="1"/>
          </p:cNvSpPr>
          <p:nvPr>
            <p:ph type="title"/>
          </p:nvPr>
        </p:nvSpPr>
        <p:spPr/>
        <p:txBody>
          <a:bodyPr/>
          <a:lstStyle/>
          <a:p>
            <a:r>
              <a:rPr lang="en-US" dirty="0"/>
              <a:t>Clusters Bar chart</a:t>
            </a:r>
          </a:p>
        </p:txBody>
      </p:sp>
      <p:pic>
        <p:nvPicPr>
          <p:cNvPr id="5" name="Content Placeholder 4">
            <a:extLst>
              <a:ext uri="{FF2B5EF4-FFF2-40B4-BE49-F238E27FC236}">
                <a16:creationId xmlns:a16="http://schemas.microsoft.com/office/drawing/2014/main" id="{8F8BD9FE-C6A8-5649-9560-DF0AE4E4EC11}"/>
              </a:ext>
            </a:extLst>
          </p:cNvPr>
          <p:cNvPicPr>
            <a:picLocks noGrp="1" noChangeAspect="1"/>
          </p:cNvPicPr>
          <p:nvPr>
            <p:ph idx="1"/>
          </p:nvPr>
        </p:nvPicPr>
        <p:blipFill>
          <a:blip r:embed="rId2"/>
          <a:stretch>
            <a:fillRect/>
          </a:stretch>
        </p:blipFill>
        <p:spPr>
          <a:xfrm>
            <a:off x="2848708" y="1482284"/>
            <a:ext cx="6494584" cy="4508665"/>
          </a:xfrm>
          <a:prstGeom prst="rect">
            <a:avLst/>
          </a:prstGeom>
        </p:spPr>
      </p:pic>
    </p:spTree>
    <p:extLst>
      <p:ext uri="{BB962C8B-B14F-4D97-AF65-F5344CB8AC3E}">
        <p14:creationId xmlns:p14="http://schemas.microsoft.com/office/powerpoint/2010/main" val="12355906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6A5456-8188-FD2E-23BA-C7C7418DA5D0}"/>
              </a:ext>
            </a:extLst>
          </p:cNvPr>
          <p:cNvSpPr>
            <a:spLocks noGrp="1"/>
          </p:cNvSpPr>
          <p:nvPr>
            <p:ph type="title"/>
          </p:nvPr>
        </p:nvSpPr>
        <p:spPr/>
        <p:txBody>
          <a:bodyPr/>
          <a:lstStyle/>
          <a:p>
            <a:r>
              <a:rPr lang="en-US" dirty="0"/>
              <a:t>Clustering results</a:t>
            </a:r>
          </a:p>
        </p:txBody>
      </p:sp>
      <p:sp>
        <p:nvSpPr>
          <p:cNvPr id="4" name="Text 1">
            <a:extLst>
              <a:ext uri="{FF2B5EF4-FFF2-40B4-BE49-F238E27FC236}">
                <a16:creationId xmlns:a16="http://schemas.microsoft.com/office/drawing/2014/main" id="{AD771A63-4336-C183-A9DB-D8269F65AD80}"/>
              </a:ext>
            </a:extLst>
          </p:cNvPr>
          <p:cNvSpPr/>
          <p:nvPr/>
        </p:nvSpPr>
        <p:spPr>
          <a:xfrm>
            <a:off x="1625948" y="1853248"/>
            <a:ext cx="8686800" cy="1177082"/>
          </a:xfrm>
          <a:prstGeom prst="roundRect">
            <a:avLst>
              <a:gd name="adj" fmla="val 6474"/>
            </a:avLst>
          </a:prstGeom>
          <a:solidFill>
            <a:srgbClr val="F1F5F9"/>
          </a:solidFill>
          <a:ln/>
        </p:spPr>
        <p:txBody>
          <a:bodyPr wrap="square" rtlCol="0" anchor="ctr"/>
          <a:lstStyle/>
          <a:p>
            <a:pPr marL="0" indent="0">
              <a:buNone/>
            </a:pPr>
            <a:endParaRPr lang="en-US" dirty="0"/>
          </a:p>
        </p:txBody>
      </p:sp>
      <p:sp>
        <p:nvSpPr>
          <p:cNvPr id="6" name="Text 3">
            <a:extLst>
              <a:ext uri="{FF2B5EF4-FFF2-40B4-BE49-F238E27FC236}">
                <a16:creationId xmlns:a16="http://schemas.microsoft.com/office/drawing/2014/main" id="{3676AAF7-6047-36F2-3A90-08896AE555C4}"/>
              </a:ext>
            </a:extLst>
          </p:cNvPr>
          <p:cNvSpPr/>
          <p:nvPr/>
        </p:nvSpPr>
        <p:spPr>
          <a:xfrm>
            <a:off x="1816448" y="1992253"/>
            <a:ext cx="863798" cy="255240"/>
          </a:xfrm>
          <a:prstGeom prst="roundRect">
            <a:avLst>
              <a:gd name="adj" fmla="val 74636"/>
            </a:avLst>
          </a:prstGeom>
          <a:solidFill>
            <a:schemeClr val="tx2">
              <a:lumMod val="50000"/>
            </a:schemeClr>
          </a:solidFill>
          <a:ln/>
        </p:spPr>
        <p:txBody>
          <a:bodyPr wrap="square" rtlCol="0" anchor="ctr"/>
          <a:lstStyle/>
          <a:p>
            <a:pPr marL="0" indent="0">
              <a:buNone/>
            </a:pPr>
            <a:endParaRPr lang="en-US" dirty="0"/>
          </a:p>
        </p:txBody>
      </p:sp>
      <p:sp>
        <p:nvSpPr>
          <p:cNvPr id="7" name="Text 4">
            <a:extLst>
              <a:ext uri="{FF2B5EF4-FFF2-40B4-BE49-F238E27FC236}">
                <a16:creationId xmlns:a16="http://schemas.microsoft.com/office/drawing/2014/main" id="{3DE120D7-2E5F-5BE1-EEFA-998467BDA801}"/>
              </a:ext>
            </a:extLst>
          </p:cNvPr>
          <p:cNvSpPr/>
          <p:nvPr/>
        </p:nvSpPr>
        <p:spPr>
          <a:xfrm>
            <a:off x="1930748" y="2039878"/>
            <a:ext cx="647902" cy="159990"/>
          </a:xfrm>
          <a:prstGeom prst="rect">
            <a:avLst/>
          </a:prstGeom>
          <a:noFill/>
          <a:ln/>
        </p:spPr>
        <p:txBody>
          <a:bodyPr wrap="square" lIns="0" tIns="0" rIns="0" bIns="0" rtlCol="0" anchor="t"/>
          <a:lstStyle/>
          <a:p>
            <a:pPr marL="0" indent="0" algn="l">
              <a:lnSpc>
                <a:spcPts val="1260"/>
              </a:lnSpc>
              <a:buNone/>
            </a:pPr>
            <a:r>
              <a:rPr lang="en-US" sz="900" b="1" dirty="0">
                <a:solidFill>
                  <a:srgbClr val="FFFFFF"/>
                </a:solidFill>
                <a:latin typeface="Arial" pitchFamily="34" charset="0"/>
                <a:ea typeface="Arial" pitchFamily="34" charset="-122"/>
                <a:cs typeface="Arial" pitchFamily="34" charset="-120"/>
              </a:rPr>
              <a:t>CLUSTER 0</a:t>
            </a:r>
            <a:endParaRPr lang="en-US" sz="900" dirty="0"/>
          </a:p>
        </p:txBody>
      </p:sp>
      <p:sp>
        <p:nvSpPr>
          <p:cNvPr id="8" name="Text 5">
            <a:extLst>
              <a:ext uri="{FF2B5EF4-FFF2-40B4-BE49-F238E27FC236}">
                <a16:creationId xmlns:a16="http://schemas.microsoft.com/office/drawing/2014/main" id="{190FAE51-626A-0D5B-4D2D-6F53407074E7}"/>
              </a:ext>
            </a:extLst>
          </p:cNvPr>
          <p:cNvSpPr/>
          <p:nvPr/>
        </p:nvSpPr>
        <p:spPr>
          <a:xfrm>
            <a:off x="2794546" y="1986598"/>
            <a:ext cx="1717366" cy="266700"/>
          </a:xfrm>
          <a:prstGeom prst="rect">
            <a:avLst/>
          </a:prstGeom>
          <a:noFill/>
          <a:ln/>
        </p:spPr>
        <p:txBody>
          <a:bodyPr wrap="square" lIns="0" tIns="0" rIns="0" bIns="0" rtlCol="0" anchor="t"/>
          <a:lstStyle/>
          <a:p>
            <a:pPr marL="0" indent="0" algn="l">
              <a:lnSpc>
                <a:spcPts val="2100"/>
              </a:lnSpc>
              <a:buNone/>
            </a:pPr>
            <a:r>
              <a:rPr lang="en-US" sz="1500" b="1" dirty="0">
                <a:solidFill>
                  <a:srgbClr val="0F172A"/>
                </a:solidFill>
                <a:latin typeface="Arial" pitchFamily="34" charset="0"/>
                <a:ea typeface="Arial" pitchFamily="34" charset="-122"/>
                <a:cs typeface="Arial" pitchFamily="34" charset="-120"/>
              </a:rPr>
              <a:t>364 records (3.6%)</a:t>
            </a:r>
            <a:endParaRPr lang="en-US" sz="1500" dirty="0"/>
          </a:p>
        </p:txBody>
      </p:sp>
      <p:sp>
        <p:nvSpPr>
          <p:cNvPr id="9" name="Text 6">
            <a:extLst>
              <a:ext uri="{FF2B5EF4-FFF2-40B4-BE49-F238E27FC236}">
                <a16:creationId xmlns:a16="http://schemas.microsoft.com/office/drawing/2014/main" id="{FFD463E2-FF31-427A-F9EC-73AFD67270DC}"/>
              </a:ext>
            </a:extLst>
          </p:cNvPr>
          <p:cNvSpPr/>
          <p:nvPr/>
        </p:nvSpPr>
        <p:spPr>
          <a:xfrm>
            <a:off x="1816448" y="2329498"/>
            <a:ext cx="2785161" cy="146596"/>
          </a:xfrm>
          <a:prstGeom prst="rect">
            <a:avLst/>
          </a:prstGeom>
          <a:noFill/>
          <a:ln/>
        </p:spPr>
        <p:txBody>
          <a:bodyPr wrap="square" lIns="0" tIns="0" rIns="0" bIns="0" rtlCol="0" anchor="t"/>
          <a:lstStyle/>
          <a:p>
            <a:pPr marL="0" indent="0" algn="l">
              <a:lnSpc>
                <a:spcPts val="1155"/>
              </a:lnSpc>
              <a:spcAft>
                <a:spcPts val="225"/>
              </a:spcAft>
              <a:buNone/>
            </a:pPr>
            <a:r>
              <a:rPr lang="en-US" sz="825" b="1" dirty="0">
                <a:solidFill>
                  <a:srgbClr val="64748B"/>
                </a:solidFill>
                <a:latin typeface="Arial" pitchFamily="34" charset="0"/>
                <a:ea typeface="Arial" pitchFamily="34" charset="-122"/>
                <a:cs typeface="Arial" pitchFamily="34" charset="-120"/>
              </a:rPr>
              <a:t>AVG RESPONSE TIME</a:t>
            </a:r>
            <a:endParaRPr lang="en-US" sz="825" dirty="0"/>
          </a:p>
        </p:txBody>
      </p:sp>
      <p:sp>
        <p:nvSpPr>
          <p:cNvPr id="10" name="Text 7">
            <a:extLst>
              <a:ext uri="{FF2B5EF4-FFF2-40B4-BE49-F238E27FC236}">
                <a16:creationId xmlns:a16="http://schemas.microsoft.com/office/drawing/2014/main" id="{C1772DB2-44F4-FD9B-3E4E-92D7C4F456BE}"/>
              </a:ext>
            </a:extLst>
          </p:cNvPr>
          <p:cNvSpPr/>
          <p:nvPr/>
        </p:nvSpPr>
        <p:spPr>
          <a:xfrm>
            <a:off x="1816448" y="2504669"/>
            <a:ext cx="2785161" cy="239911"/>
          </a:xfrm>
          <a:prstGeom prst="rect">
            <a:avLst/>
          </a:prstGeom>
          <a:noFill/>
          <a:ln/>
        </p:spPr>
        <p:txBody>
          <a:bodyPr wrap="square" lIns="0" tIns="0" rIns="0" bIns="0" rtlCol="0" anchor="t"/>
          <a:lstStyle/>
          <a:p>
            <a:pPr marL="0" indent="0" algn="l">
              <a:lnSpc>
                <a:spcPts val="1890"/>
              </a:lnSpc>
              <a:buNone/>
            </a:pPr>
            <a:r>
              <a:rPr lang="en-US" sz="1350" b="1" dirty="0">
                <a:solidFill>
                  <a:schemeClr val="bg1">
                    <a:lumMod val="95000"/>
                    <a:lumOff val="5000"/>
                  </a:schemeClr>
                </a:solidFill>
                <a:latin typeface="Arial" pitchFamily="34" charset="0"/>
                <a:ea typeface="Arial" pitchFamily="34" charset="-122"/>
                <a:cs typeface="Arial" pitchFamily="34" charset="-120"/>
              </a:rPr>
              <a:t>25 hours</a:t>
            </a:r>
            <a:endParaRPr lang="en-US" sz="1350" dirty="0">
              <a:solidFill>
                <a:schemeClr val="bg1">
                  <a:lumMod val="95000"/>
                  <a:lumOff val="5000"/>
                </a:schemeClr>
              </a:solidFill>
            </a:endParaRPr>
          </a:p>
        </p:txBody>
      </p:sp>
      <p:sp>
        <p:nvSpPr>
          <p:cNvPr id="11" name="Text 8">
            <a:extLst>
              <a:ext uri="{FF2B5EF4-FFF2-40B4-BE49-F238E27FC236}">
                <a16:creationId xmlns:a16="http://schemas.microsoft.com/office/drawing/2014/main" id="{38A2FE14-6175-7118-253F-BACD34CA272A}"/>
              </a:ext>
            </a:extLst>
          </p:cNvPr>
          <p:cNvSpPr/>
          <p:nvPr/>
        </p:nvSpPr>
        <p:spPr>
          <a:xfrm>
            <a:off x="1816448" y="2763630"/>
            <a:ext cx="2785161" cy="133350"/>
          </a:xfrm>
          <a:prstGeom prst="rect">
            <a:avLst/>
          </a:prstGeom>
          <a:noFill/>
          <a:ln/>
        </p:spPr>
        <p:txBody>
          <a:bodyPr wrap="square" lIns="0" tIns="0" rIns="0" bIns="0" rtlCol="0" anchor="t"/>
          <a:lstStyle/>
          <a:p>
            <a:pPr marL="0" indent="0" algn="l">
              <a:lnSpc>
                <a:spcPts val="1050"/>
              </a:lnSpc>
              <a:spcBef>
                <a:spcPts val="150"/>
              </a:spcBef>
              <a:buNone/>
            </a:pPr>
            <a:r>
              <a:rPr lang="en-US" sz="750" dirty="0">
                <a:solidFill>
                  <a:srgbClr val="64748B"/>
                </a:solidFill>
                <a:latin typeface="Arial" pitchFamily="34" charset="0"/>
                <a:ea typeface="Arial" pitchFamily="34" charset="-122"/>
                <a:cs typeface="Arial" pitchFamily="34" charset="-120"/>
              </a:rPr>
              <a:t>5× dataset average (4.8h)</a:t>
            </a:r>
            <a:endParaRPr lang="en-US" sz="750" dirty="0"/>
          </a:p>
        </p:txBody>
      </p:sp>
      <p:sp>
        <p:nvSpPr>
          <p:cNvPr id="12" name="Text 9">
            <a:extLst>
              <a:ext uri="{FF2B5EF4-FFF2-40B4-BE49-F238E27FC236}">
                <a16:creationId xmlns:a16="http://schemas.microsoft.com/office/drawing/2014/main" id="{41035000-D488-8335-F3D9-1512C096B6DD}"/>
              </a:ext>
            </a:extLst>
          </p:cNvPr>
          <p:cNvSpPr/>
          <p:nvPr/>
        </p:nvSpPr>
        <p:spPr>
          <a:xfrm>
            <a:off x="4718448" y="2439928"/>
            <a:ext cx="2985915" cy="146596"/>
          </a:xfrm>
          <a:prstGeom prst="rect">
            <a:avLst/>
          </a:prstGeom>
          <a:noFill/>
          <a:ln/>
        </p:spPr>
        <p:txBody>
          <a:bodyPr wrap="square" lIns="0" tIns="0" rIns="0" bIns="0" rtlCol="0" anchor="t"/>
          <a:lstStyle/>
          <a:p>
            <a:pPr marL="0" indent="0" algn="l">
              <a:lnSpc>
                <a:spcPts val="1155"/>
              </a:lnSpc>
              <a:spcAft>
                <a:spcPts val="225"/>
              </a:spcAft>
              <a:buNone/>
            </a:pPr>
            <a:r>
              <a:rPr lang="en-US" sz="825" b="1" dirty="0">
                <a:solidFill>
                  <a:srgbClr val="64748B"/>
                </a:solidFill>
                <a:latin typeface="Arial" pitchFamily="34" charset="0"/>
                <a:ea typeface="Arial" pitchFamily="34" charset="-122"/>
                <a:cs typeface="Arial" pitchFamily="34" charset="-120"/>
              </a:rPr>
              <a:t>PRIMARY CHARACTERISTIC</a:t>
            </a:r>
            <a:endParaRPr lang="en-US" sz="825" dirty="0"/>
          </a:p>
        </p:txBody>
      </p:sp>
      <p:sp>
        <p:nvSpPr>
          <p:cNvPr id="13" name="Text 10">
            <a:extLst>
              <a:ext uri="{FF2B5EF4-FFF2-40B4-BE49-F238E27FC236}">
                <a16:creationId xmlns:a16="http://schemas.microsoft.com/office/drawing/2014/main" id="{FF534DD9-7D9D-D409-035E-290239F743D4}"/>
              </a:ext>
            </a:extLst>
          </p:cNvPr>
          <p:cNvSpPr/>
          <p:nvPr/>
        </p:nvSpPr>
        <p:spPr>
          <a:xfrm>
            <a:off x="4718449" y="2586524"/>
            <a:ext cx="3994100" cy="200025"/>
          </a:xfrm>
          <a:prstGeom prst="rect">
            <a:avLst/>
          </a:prstGeom>
          <a:noFill/>
          <a:ln/>
        </p:spPr>
        <p:txBody>
          <a:bodyPr wrap="square" lIns="0" tIns="0" rIns="0" bIns="0" rtlCol="0" anchor="t"/>
          <a:lstStyle/>
          <a:p>
            <a:pPr marL="0" indent="0" algn="l">
              <a:lnSpc>
                <a:spcPts val="1350"/>
              </a:lnSpc>
              <a:buNone/>
            </a:pPr>
            <a:r>
              <a:rPr lang="en-US" sz="900" dirty="0">
                <a:solidFill>
                  <a:srgbClr val="1E293B"/>
                </a:solidFill>
                <a:latin typeface="Arial" pitchFamily="34" charset="0"/>
                <a:ea typeface="Arial" pitchFamily="34" charset="-122"/>
                <a:cs typeface="Arial" pitchFamily="34" charset="-120"/>
              </a:rPr>
              <a:t>High response times dominated by property crimes (51% Motor Vehicle Theft)</a:t>
            </a:r>
            <a:endParaRPr lang="en-US" sz="900" dirty="0"/>
          </a:p>
        </p:txBody>
      </p:sp>
      <p:sp>
        <p:nvSpPr>
          <p:cNvPr id="14" name="Text 11">
            <a:extLst>
              <a:ext uri="{FF2B5EF4-FFF2-40B4-BE49-F238E27FC236}">
                <a16:creationId xmlns:a16="http://schemas.microsoft.com/office/drawing/2014/main" id="{B3E9584F-B3D9-1504-540A-9AF3F66403DA}"/>
              </a:ext>
            </a:extLst>
          </p:cNvPr>
          <p:cNvSpPr/>
          <p:nvPr/>
        </p:nvSpPr>
        <p:spPr>
          <a:xfrm>
            <a:off x="1625948" y="3144630"/>
            <a:ext cx="8686800" cy="1177082"/>
          </a:xfrm>
          <a:prstGeom prst="roundRect">
            <a:avLst>
              <a:gd name="adj" fmla="val 6474"/>
            </a:avLst>
          </a:prstGeom>
          <a:solidFill>
            <a:srgbClr val="F1F5F9"/>
          </a:solidFill>
          <a:ln/>
        </p:spPr>
        <p:txBody>
          <a:bodyPr wrap="square" rtlCol="0" anchor="ctr"/>
          <a:lstStyle/>
          <a:p>
            <a:pPr marL="0" indent="0">
              <a:buNone/>
            </a:pPr>
            <a:endParaRPr lang="en-US" dirty="0"/>
          </a:p>
        </p:txBody>
      </p:sp>
      <p:sp>
        <p:nvSpPr>
          <p:cNvPr id="16" name="Text 13">
            <a:extLst>
              <a:ext uri="{FF2B5EF4-FFF2-40B4-BE49-F238E27FC236}">
                <a16:creationId xmlns:a16="http://schemas.microsoft.com/office/drawing/2014/main" id="{7255D7E7-7AB8-4D23-261D-FCD2F4638411}"/>
              </a:ext>
            </a:extLst>
          </p:cNvPr>
          <p:cNvSpPr/>
          <p:nvPr/>
        </p:nvSpPr>
        <p:spPr>
          <a:xfrm>
            <a:off x="1816448" y="3283635"/>
            <a:ext cx="863798" cy="255240"/>
          </a:xfrm>
          <a:prstGeom prst="roundRect">
            <a:avLst>
              <a:gd name="adj" fmla="val 74636"/>
            </a:avLst>
          </a:prstGeom>
          <a:solidFill>
            <a:schemeClr val="bg1">
              <a:lumMod val="75000"/>
              <a:lumOff val="25000"/>
            </a:schemeClr>
          </a:solidFill>
          <a:ln/>
        </p:spPr>
        <p:txBody>
          <a:bodyPr wrap="square" rtlCol="0" anchor="ctr"/>
          <a:lstStyle/>
          <a:p>
            <a:pPr marL="0" indent="0">
              <a:buNone/>
            </a:pPr>
            <a:endParaRPr lang="en-US" dirty="0"/>
          </a:p>
        </p:txBody>
      </p:sp>
      <p:sp>
        <p:nvSpPr>
          <p:cNvPr id="17" name="Text 14">
            <a:extLst>
              <a:ext uri="{FF2B5EF4-FFF2-40B4-BE49-F238E27FC236}">
                <a16:creationId xmlns:a16="http://schemas.microsoft.com/office/drawing/2014/main" id="{6A05624F-2D25-DEBC-E452-3F02C376F129}"/>
              </a:ext>
            </a:extLst>
          </p:cNvPr>
          <p:cNvSpPr/>
          <p:nvPr/>
        </p:nvSpPr>
        <p:spPr>
          <a:xfrm>
            <a:off x="1930748" y="3331260"/>
            <a:ext cx="647902" cy="159990"/>
          </a:xfrm>
          <a:prstGeom prst="rect">
            <a:avLst/>
          </a:prstGeom>
          <a:noFill/>
          <a:ln/>
        </p:spPr>
        <p:txBody>
          <a:bodyPr wrap="square" lIns="0" tIns="0" rIns="0" bIns="0" rtlCol="0" anchor="t"/>
          <a:lstStyle/>
          <a:p>
            <a:pPr marL="0" indent="0" algn="l">
              <a:lnSpc>
                <a:spcPts val="1260"/>
              </a:lnSpc>
              <a:buNone/>
            </a:pPr>
            <a:r>
              <a:rPr lang="en-US" sz="900" b="1" dirty="0">
                <a:solidFill>
                  <a:srgbClr val="FFFFFF"/>
                </a:solidFill>
                <a:latin typeface="Arial" pitchFamily="34" charset="0"/>
                <a:ea typeface="Arial" pitchFamily="34" charset="-122"/>
                <a:cs typeface="Arial" pitchFamily="34" charset="-120"/>
              </a:rPr>
              <a:t>CLUSTER 6</a:t>
            </a:r>
            <a:endParaRPr lang="en-US" sz="900" dirty="0"/>
          </a:p>
        </p:txBody>
      </p:sp>
      <p:sp>
        <p:nvSpPr>
          <p:cNvPr id="18" name="Text 15">
            <a:extLst>
              <a:ext uri="{FF2B5EF4-FFF2-40B4-BE49-F238E27FC236}">
                <a16:creationId xmlns:a16="http://schemas.microsoft.com/office/drawing/2014/main" id="{123460BE-1035-43C0-A7B5-5594573D9052}"/>
              </a:ext>
            </a:extLst>
          </p:cNvPr>
          <p:cNvSpPr/>
          <p:nvPr/>
        </p:nvSpPr>
        <p:spPr>
          <a:xfrm>
            <a:off x="2794546" y="3277980"/>
            <a:ext cx="1501197" cy="266700"/>
          </a:xfrm>
          <a:prstGeom prst="rect">
            <a:avLst/>
          </a:prstGeom>
          <a:noFill/>
          <a:ln/>
        </p:spPr>
        <p:txBody>
          <a:bodyPr wrap="square" lIns="0" tIns="0" rIns="0" bIns="0" rtlCol="0" anchor="t"/>
          <a:lstStyle/>
          <a:p>
            <a:pPr marL="0" indent="0" algn="l">
              <a:lnSpc>
                <a:spcPts val="2100"/>
              </a:lnSpc>
              <a:buNone/>
            </a:pPr>
            <a:r>
              <a:rPr lang="en-US" sz="1500" b="1" dirty="0">
                <a:solidFill>
                  <a:srgbClr val="0F172A"/>
                </a:solidFill>
                <a:latin typeface="Arial" pitchFamily="34" charset="0"/>
                <a:ea typeface="Arial" pitchFamily="34" charset="-122"/>
                <a:cs typeface="Arial" pitchFamily="34" charset="-120"/>
              </a:rPr>
              <a:t>1 record (0.01%)</a:t>
            </a:r>
            <a:endParaRPr lang="en-US" sz="1500" dirty="0"/>
          </a:p>
        </p:txBody>
      </p:sp>
      <p:sp>
        <p:nvSpPr>
          <p:cNvPr id="19" name="Text 16">
            <a:extLst>
              <a:ext uri="{FF2B5EF4-FFF2-40B4-BE49-F238E27FC236}">
                <a16:creationId xmlns:a16="http://schemas.microsoft.com/office/drawing/2014/main" id="{84A83090-04A1-7CFA-1A1D-0179E4855818}"/>
              </a:ext>
            </a:extLst>
          </p:cNvPr>
          <p:cNvSpPr/>
          <p:nvPr/>
        </p:nvSpPr>
        <p:spPr>
          <a:xfrm>
            <a:off x="1816448" y="3620880"/>
            <a:ext cx="2785161" cy="146596"/>
          </a:xfrm>
          <a:prstGeom prst="rect">
            <a:avLst/>
          </a:prstGeom>
          <a:noFill/>
          <a:ln/>
        </p:spPr>
        <p:txBody>
          <a:bodyPr wrap="square" lIns="0" tIns="0" rIns="0" bIns="0" rtlCol="0" anchor="t"/>
          <a:lstStyle/>
          <a:p>
            <a:pPr marL="0" indent="0" algn="l">
              <a:lnSpc>
                <a:spcPts val="1155"/>
              </a:lnSpc>
              <a:spcAft>
                <a:spcPts val="225"/>
              </a:spcAft>
              <a:buNone/>
            </a:pPr>
            <a:r>
              <a:rPr lang="en-US" sz="825" b="1" dirty="0">
                <a:solidFill>
                  <a:srgbClr val="64748B"/>
                </a:solidFill>
                <a:latin typeface="Arial" pitchFamily="34" charset="0"/>
                <a:ea typeface="Arial" pitchFamily="34" charset="-122"/>
                <a:cs typeface="Arial" pitchFamily="34" charset="-120"/>
              </a:rPr>
              <a:t>TIME TO REPORT</a:t>
            </a:r>
            <a:endParaRPr lang="en-US" sz="825" dirty="0"/>
          </a:p>
        </p:txBody>
      </p:sp>
      <p:sp>
        <p:nvSpPr>
          <p:cNvPr id="20" name="Text 17">
            <a:extLst>
              <a:ext uri="{FF2B5EF4-FFF2-40B4-BE49-F238E27FC236}">
                <a16:creationId xmlns:a16="http://schemas.microsoft.com/office/drawing/2014/main" id="{E560B25C-37DE-219C-D92A-CD9794C48439}"/>
              </a:ext>
            </a:extLst>
          </p:cNvPr>
          <p:cNvSpPr/>
          <p:nvPr/>
        </p:nvSpPr>
        <p:spPr>
          <a:xfrm>
            <a:off x="1816448" y="3796050"/>
            <a:ext cx="2785161" cy="239911"/>
          </a:xfrm>
          <a:prstGeom prst="rect">
            <a:avLst/>
          </a:prstGeom>
          <a:noFill/>
          <a:ln/>
        </p:spPr>
        <p:txBody>
          <a:bodyPr wrap="square" lIns="0" tIns="0" rIns="0" bIns="0" rtlCol="0" anchor="t"/>
          <a:lstStyle/>
          <a:p>
            <a:pPr marL="0" indent="0" algn="l">
              <a:lnSpc>
                <a:spcPts val="1890"/>
              </a:lnSpc>
              <a:buNone/>
            </a:pPr>
            <a:r>
              <a:rPr lang="en-US" sz="1350" b="1" dirty="0">
                <a:solidFill>
                  <a:schemeClr val="bg1">
                    <a:lumMod val="95000"/>
                    <a:lumOff val="5000"/>
                  </a:schemeClr>
                </a:solidFill>
                <a:latin typeface="Arial" pitchFamily="34" charset="0"/>
                <a:ea typeface="Arial" pitchFamily="34" charset="-122"/>
                <a:cs typeface="Arial" pitchFamily="34" charset="-120"/>
              </a:rPr>
              <a:t>40 years</a:t>
            </a:r>
            <a:endParaRPr lang="en-US" sz="1350" dirty="0">
              <a:solidFill>
                <a:schemeClr val="bg1">
                  <a:lumMod val="95000"/>
                  <a:lumOff val="5000"/>
                </a:schemeClr>
              </a:solidFill>
            </a:endParaRPr>
          </a:p>
        </p:txBody>
      </p:sp>
      <p:sp>
        <p:nvSpPr>
          <p:cNvPr id="21" name="Text 18">
            <a:extLst>
              <a:ext uri="{FF2B5EF4-FFF2-40B4-BE49-F238E27FC236}">
                <a16:creationId xmlns:a16="http://schemas.microsoft.com/office/drawing/2014/main" id="{2C86A721-72AA-FDBF-1E74-D62BE9BD286C}"/>
              </a:ext>
            </a:extLst>
          </p:cNvPr>
          <p:cNvSpPr/>
          <p:nvPr/>
        </p:nvSpPr>
        <p:spPr>
          <a:xfrm>
            <a:off x="1816448" y="4055011"/>
            <a:ext cx="2785161" cy="133350"/>
          </a:xfrm>
          <a:prstGeom prst="rect">
            <a:avLst/>
          </a:prstGeom>
          <a:noFill/>
          <a:ln/>
        </p:spPr>
        <p:txBody>
          <a:bodyPr wrap="square" lIns="0" tIns="0" rIns="0" bIns="0" rtlCol="0" anchor="t"/>
          <a:lstStyle/>
          <a:p>
            <a:pPr marL="0" indent="0" algn="l">
              <a:lnSpc>
                <a:spcPts val="1050"/>
              </a:lnSpc>
              <a:spcBef>
                <a:spcPts val="150"/>
              </a:spcBef>
              <a:buNone/>
            </a:pPr>
            <a:r>
              <a:rPr lang="en-US" sz="750" dirty="0">
                <a:solidFill>
                  <a:srgbClr val="64748B"/>
                </a:solidFill>
                <a:latin typeface="Arial" pitchFamily="34" charset="0"/>
                <a:ea typeface="Arial" pitchFamily="34" charset="-122"/>
                <a:cs typeface="Arial" pitchFamily="34" charset="-120"/>
              </a:rPr>
              <a:t>351,012 hours</a:t>
            </a:r>
            <a:endParaRPr lang="en-US" sz="750" dirty="0"/>
          </a:p>
        </p:txBody>
      </p:sp>
      <p:sp>
        <p:nvSpPr>
          <p:cNvPr id="22" name="Text 19">
            <a:extLst>
              <a:ext uri="{FF2B5EF4-FFF2-40B4-BE49-F238E27FC236}">
                <a16:creationId xmlns:a16="http://schemas.microsoft.com/office/drawing/2014/main" id="{77D90443-4D9D-27E1-2138-D139AD362DAF}"/>
              </a:ext>
            </a:extLst>
          </p:cNvPr>
          <p:cNvSpPr/>
          <p:nvPr/>
        </p:nvSpPr>
        <p:spPr>
          <a:xfrm>
            <a:off x="4718448" y="3731310"/>
            <a:ext cx="5570169" cy="146596"/>
          </a:xfrm>
          <a:prstGeom prst="rect">
            <a:avLst/>
          </a:prstGeom>
          <a:noFill/>
          <a:ln/>
        </p:spPr>
        <p:txBody>
          <a:bodyPr wrap="square" lIns="0" tIns="0" rIns="0" bIns="0" rtlCol="0" anchor="t"/>
          <a:lstStyle/>
          <a:p>
            <a:pPr marL="0" indent="0" algn="l">
              <a:lnSpc>
                <a:spcPts val="1155"/>
              </a:lnSpc>
              <a:spcAft>
                <a:spcPts val="225"/>
              </a:spcAft>
              <a:buNone/>
            </a:pPr>
            <a:r>
              <a:rPr lang="en-US" sz="825" b="1" dirty="0">
                <a:solidFill>
                  <a:srgbClr val="64748B"/>
                </a:solidFill>
                <a:latin typeface="Arial" pitchFamily="34" charset="0"/>
                <a:ea typeface="Arial" pitchFamily="34" charset="-122"/>
                <a:cs typeface="Arial" pitchFamily="34" charset="-120"/>
              </a:rPr>
              <a:t>PRIMARY CHARACTERISTIC</a:t>
            </a:r>
            <a:endParaRPr lang="en-US" sz="825" dirty="0"/>
          </a:p>
        </p:txBody>
      </p:sp>
      <p:sp>
        <p:nvSpPr>
          <p:cNvPr id="23" name="Text 20">
            <a:extLst>
              <a:ext uri="{FF2B5EF4-FFF2-40B4-BE49-F238E27FC236}">
                <a16:creationId xmlns:a16="http://schemas.microsoft.com/office/drawing/2014/main" id="{B6C70AD2-BF0F-CE24-734C-8BC96F5F6C87}"/>
              </a:ext>
            </a:extLst>
          </p:cNvPr>
          <p:cNvSpPr/>
          <p:nvPr/>
        </p:nvSpPr>
        <p:spPr>
          <a:xfrm>
            <a:off x="4718448" y="3906481"/>
            <a:ext cx="5570169" cy="171450"/>
          </a:xfrm>
          <a:prstGeom prst="rect">
            <a:avLst/>
          </a:prstGeom>
          <a:noFill/>
          <a:ln/>
        </p:spPr>
        <p:txBody>
          <a:bodyPr wrap="square" lIns="0" tIns="0" rIns="0" bIns="0" rtlCol="0" anchor="t"/>
          <a:lstStyle/>
          <a:p>
            <a:pPr marL="0" indent="0" algn="l">
              <a:lnSpc>
                <a:spcPts val="1350"/>
              </a:lnSpc>
              <a:buNone/>
            </a:pPr>
            <a:r>
              <a:rPr lang="en-US" sz="900" dirty="0">
                <a:solidFill>
                  <a:srgbClr val="1E293B"/>
                </a:solidFill>
                <a:latin typeface="Arial" pitchFamily="34" charset="0"/>
                <a:ea typeface="Arial" pitchFamily="34" charset="-122"/>
                <a:cs typeface="Arial" pitchFamily="34" charset="-120"/>
              </a:rPr>
              <a:t>Extreme data anomaly indicating data entry error requiring removal</a:t>
            </a:r>
            <a:endParaRPr lang="en-US" sz="900" dirty="0"/>
          </a:p>
        </p:txBody>
      </p:sp>
      <p:sp>
        <p:nvSpPr>
          <p:cNvPr id="24" name="Text 21">
            <a:extLst>
              <a:ext uri="{FF2B5EF4-FFF2-40B4-BE49-F238E27FC236}">
                <a16:creationId xmlns:a16="http://schemas.microsoft.com/office/drawing/2014/main" id="{E469FAFF-16E7-6A63-5CA0-7EBBF13E2D8B}"/>
              </a:ext>
            </a:extLst>
          </p:cNvPr>
          <p:cNvSpPr/>
          <p:nvPr/>
        </p:nvSpPr>
        <p:spPr>
          <a:xfrm>
            <a:off x="1625948" y="4436011"/>
            <a:ext cx="8686800" cy="1177082"/>
          </a:xfrm>
          <a:prstGeom prst="roundRect">
            <a:avLst>
              <a:gd name="adj" fmla="val 6474"/>
            </a:avLst>
          </a:prstGeom>
          <a:solidFill>
            <a:srgbClr val="F1F5F9"/>
          </a:solidFill>
          <a:ln/>
        </p:spPr>
        <p:txBody>
          <a:bodyPr wrap="square" rtlCol="0" anchor="ctr"/>
          <a:lstStyle/>
          <a:p>
            <a:pPr marL="0" indent="0">
              <a:buNone/>
            </a:pPr>
            <a:endParaRPr lang="en-US" dirty="0"/>
          </a:p>
        </p:txBody>
      </p:sp>
      <p:sp>
        <p:nvSpPr>
          <p:cNvPr id="26" name="Text 23">
            <a:extLst>
              <a:ext uri="{FF2B5EF4-FFF2-40B4-BE49-F238E27FC236}">
                <a16:creationId xmlns:a16="http://schemas.microsoft.com/office/drawing/2014/main" id="{FC712BA2-5A21-4DEE-C2A9-2308B0F76E92}"/>
              </a:ext>
            </a:extLst>
          </p:cNvPr>
          <p:cNvSpPr/>
          <p:nvPr/>
        </p:nvSpPr>
        <p:spPr>
          <a:xfrm>
            <a:off x="1816448" y="4575017"/>
            <a:ext cx="863798" cy="255240"/>
          </a:xfrm>
          <a:prstGeom prst="roundRect">
            <a:avLst>
              <a:gd name="adj" fmla="val 74636"/>
            </a:avLst>
          </a:prstGeom>
          <a:solidFill>
            <a:schemeClr val="bg1">
              <a:lumMod val="85000"/>
              <a:lumOff val="15000"/>
            </a:schemeClr>
          </a:solidFill>
          <a:ln/>
        </p:spPr>
        <p:txBody>
          <a:bodyPr wrap="square" rtlCol="0" anchor="ctr"/>
          <a:lstStyle/>
          <a:p>
            <a:pPr marL="0" indent="0">
              <a:buNone/>
            </a:pPr>
            <a:endParaRPr lang="en-US" dirty="0"/>
          </a:p>
        </p:txBody>
      </p:sp>
      <p:sp>
        <p:nvSpPr>
          <p:cNvPr id="27" name="Text 24">
            <a:extLst>
              <a:ext uri="{FF2B5EF4-FFF2-40B4-BE49-F238E27FC236}">
                <a16:creationId xmlns:a16="http://schemas.microsoft.com/office/drawing/2014/main" id="{8180F4B4-2740-3B32-ADD0-A52D38C82E13}"/>
              </a:ext>
            </a:extLst>
          </p:cNvPr>
          <p:cNvSpPr/>
          <p:nvPr/>
        </p:nvSpPr>
        <p:spPr>
          <a:xfrm>
            <a:off x="1930748" y="4622642"/>
            <a:ext cx="647902" cy="159990"/>
          </a:xfrm>
          <a:prstGeom prst="rect">
            <a:avLst/>
          </a:prstGeom>
          <a:noFill/>
          <a:ln/>
        </p:spPr>
        <p:txBody>
          <a:bodyPr wrap="square" lIns="0" tIns="0" rIns="0" bIns="0" rtlCol="0" anchor="t"/>
          <a:lstStyle/>
          <a:p>
            <a:pPr marL="0" indent="0" algn="l">
              <a:lnSpc>
                <a:spcPts val="1260"/>
              </a:lnSpc>
              <a:buNone/>
            </a:pPr>
            <a:r>
              <a:rPr lang="en-US" sz="900" b="1" dirty="0">
                <a:solidFill>
                  <a:srgbClr val="FFFFFF"/>
                </a:solidFill>
                <a:latin typeface="Arial" pitchFamily="34" charset="0"/>
                <a:ea typeface="Arial" pitchFamily="34" charset="-122"/>
                <a:cs typeface="Arial" pitchFamily="34" charset="-120"/>
              </a:rPr>
              <a:t>CLUSTER 8</a:t>
            </a:r>
            <a:endParaRPr lang="en-US" sz="900" dirty="0"/>
          </a:p>
        </p:txBody>
      </p:sp>
      <p:sp>
        <p:nvSpPr>
          <p:cNvPr id="28" name="Text 25">
            <a:extLst>
              <a:ext uri="{FF2B5EF4-FFF2-40B4-BE49-F238E27FC236}">
                <a16:creationId xmlns:a16="http://schemas.microsoft.com/office/drawing/2014/main" id="{462967DE-A180-950C-5C81-6251F179427D}"/>
              </a:ext>
            </a:extLst>
          </p:cNvPr>
          <p:cNvSpPr/>
          <p:nvPr/>
        </p:nvSpPr>
        <p:spPr>
          <a:xfrm>
            <a:off x="2794546" y="4569361"/>
            <a:ext cx="1609281" cy="266700"/>
          </a:xfrm>
          <a:prstGeom prst="rect">
            <a:avLst/>
          </a:prstGeom>
          <a:noFill/>
          <a:ln/>
        </p:spPr>
        <p:txBody>
          <a:bodyPr wrap="square" lIns="0" tIns="0" rIns="0" bIns="0" rtlCol="0" anchor="t"/>
          <a:lstStyle/>
          <a:p>
            <a:pPr marL="0" indent="0" algn="l">
              <a:lnSpc>
                <a:spcPts val="2100"/>
              </a:lnSpc>
              <a:buNone/>
            </a:pPr>
            <a:r>
              <a:rPr lang="en-US" sz="1500" b="1" dirty="0">
                <a:solidFill>
                  <a:srgbClr val="0F172A"/>
                </a:solidFill>
                <a:latin typeface="Arial" pitchFamily="34" charset="0"/>
                <a:ea typeface="Arial" pitchFamily="34" charset="-122"/>
                <a:cs typeface="Arial" pitchFamily="34" charset="-120"/>
              </a:rPr>
              <a:t>53 records (0.5%)</a:t>
            </a:r>
            <a:endParaRPr lang="en-US" sz="1500" dirty="0"/>
          </a:p>
        </p:txBody>
      </p:sp>
      <p:sp>
        <p:nvSpPr>
          <p:cNvPr id="29" name="Text 26">
            <a:extLst>
              <a:ext uri="{FF2B5EF4-FFF2-40B4-BE49-F238E27FC236}">
                <a16:creationId xmlns:a16="http://schemas.microsoft.com/office/drawing/2014/main" id="{2E58362C-E506-2506-915E-1D4F1F3DE760}"/>
              </a:ext>
            </a:extLst>
          </p:cNvPr>
          <p:cNvSpPr/>
          <p:nvPr/>
        </p:nvSpPr>
        <p:spPr>
          <a:xfrm>
            <a:off x="1816448" y="4912261"/>
            <a:ext cx="2785161" cy="146596"/>
          </a:xfrm>
          <a:prstGeom prst="rect">
            <a:avLst/>
          </a:prstGeom>
          <a:noFill/>
          <a:ln/>
        </p:spPr>
        <p:txBody>
          <a:bodyPr wrap="square" lIns="0" tIns="0" rIns="0" bIns="0" rtlCol="0" anchor="t"/>
          <a:lstStyle/>
          <a:p>
            <a:pPr marL="0" indent="0" algn="l">
              <a:lnSpc>
                <a:spcPts val="1155"/>
              </a:lnSpc>
              <a:spcAft>
                <a:spcPts val="225"/>
              </a:spcAft>
              <a:buNone/>
            </a:pPr>
            <a:r>
              <a:rPr lang="en-US" sz="825" b="1" dirty="0">
                <a:solidFill>
                  <a:srgbClr val="64748B"/>
                </a:solidFill>
                <a:latin typeface="Arial" pitchFamily="34" charset="0"/>
                <a:ea typeface="Arial" pitchFamily="34" charset="-122"/>
                <a:cs typeface="Arial" pitchFamily="34" charset="-120"/>
              </a:rPr>
              <a:t>AVG RESPONSE TIME</a:t>
            </a:r>
            <a:endParaRPr lang="en-US" sz="825" dirty="0"/>
          </a:p>
        </p:txBody>
      </p:sp>
      <p:sp>
        <p:nvSpPr>
          <p:cNvPr id="30" name="Text 27">
            <a:extLst>
              <a:ext uri="{FF2B5EF4-FFF2-40B4-BE49-F238E27FC236}">
                <a16:creationId xmlns:a16="http://schemas.microsoft.com/office/drawing/2014/main" id="{B0C13EC1-F885-A5F9-C738-648031374645}"/>
              </a:ext>
            </a:extLst>
          </p:cNvPr>
          <p:cNvSpPr/>
          <p:nvPr/>
        </p:nvSpPr>
        <p:spPr>
          <a:xfrm>
            <a:off x="1816448" y="5087432"/>
            <a:ext cx="2785161" cy="239911"/>
          </a:xfrm>
          <a:prstGeom prst="rect">
            <a:avLst/>
          </a:prstGeom>
          <a:noFill/>
          <a:ln/>
        </p:spPr>
        <p:txBody>
          <a:bodyPr wrap="square" lIns="0" tIns="0" rIns="0" bIns="0" rtlCol="0" anchor="t"/>
          <a:lstStyle/>
          <a:p>
            <a:pPr marL="0" indent="0" algn="l">
              <a:lnSpc>
                <a:spcPts val="1890"/>
              </a:lnSpc>
              <a:buNone/>
            </a:pPr>
            <a:r>
              <a:rPr lang="en-US" sz="1350" b="1" dirty="0">
                <a:solidFill>
                  <a:schemeClr val="bg1">
                    <a:lumMod val="95000"/>
                    <a:lumOff val="5000"/>
                  </a:schemeClr>
                </a:solidFill>
                <a:latin typeface="Arial" pitchFamily="34" charset="0"/>
                <a:ea typeface="Arial" pitchFamily="34" charset="-122"/>
                <a:cs typeface="Arial" pitchFamily="34" charset="-120"/>
              </a:rPr>
              <a:t>88 hours</a:t>
            </a:r>
            <a:endParaRPr lang="en-US" sz="1350" dirty="0">
              <a:solidFill>
                <a:schemeClr val="bg1">
                  <a:lumMod val="95000"/>
                  <a:lumOff val="5000"/>
                </a:schemeClr>
              </a:solidFill>
            </a:endParaRPr>
          </a:p>
        </p:txBody>
      </p:sp>
      <p:sp>
        <p:nvSpPr>
          <p:cNvPr id="31" name="Text 28">
            <a:extLst>
              <a:ext uri="{FF2B5EF4-FFF2-40B4-BE49-F238E27FC236}">
                <a16:creationId xmlns:a16="http://schemas.microsoft.com/office/drawing/2014/main" id="{9D0E014F-8E7C-AB83-918C-1BFBD22D78C2}"/>
              </a:ext>
            </a:extLst>
          </p:cNvPr>
          <p:cNvSpPr/>
          <p:nvPr/>
        </p:nvSpPr>
        <p:spPr>
          <a:xfrm>
            <a:off x="1816448" y="5346393"/>
            <a:ext cx="2785161" cy="133350"/>
          </a:xfrm>
          <a:prstGeom prst="rect">
            <a:avLst/>
          </a:prstGeom>
          <a:noFill/>
          <a:ln/>
        </p:spPr>
        <p:txBody>
          <a:bodyPr wrap="square" lIns="0" tIns="0" rIns="0" bIns="0" rtlCol="0" anchor="t"/>
          <a:lstStyle/>
          <a:p>
            <a:pPr marL="0" indent="0" algn="l">
              <a:lnSpc>
                <a:spcPts val="1050"/>
              </a:lnSpc>
              <a:spcBef>
                <a:spcPts val="150"/>
              </a:spcBef>
              <a:buNone/>
            </a:pPr>
            <a:r>
              <a:rPr lang="en-US" sz="750" dirty="0">
                <a:solidFill>
                  <a:srgbClr val="64748B"/>
                </a:solidFill>
                <a:latin typeface="Arial" pitchFamily="34" charset="0"/>
                <a:ea typeface="Arial" pitchFamily="34" charset="-122"/>
                <a:cs typeface="Arial" pitchFamily="34" charset="-120"/>
              </a:rPr>
              <a:t>18× dataset average (4.8h)</a:t>
            </a:r>
            <a:endParaRPr lang="en-US" sz="750" dirty="0"/>
          </a:p>
        </p:txBody>
      </p:sp>
      <p:sp>
        <p:nvSpPr>
          <p:cNvPr id="32" name="Text 29">
            <a:extLst>
              <a:ext uri="{FF2B5EF4-FFF2-40B4-BE49-F238E27FC236}">
                <a16:creationId xmlns:a16="http://schemas.microsoft.com/office/drawing/2014/main" id="{8583FF00-1AAC-3E01-6F4A-5A7188BCD267}"/>
              </a:ext>
            </a:extLst>
          </p:cNvPr>
          <p:cNvSpPr/>
          <p:nvPr/>
        </p:nvSpPr>
        <p:spPr>
          <a:xfrm>
            <a:off x="4718448" y="5022692"/>
            <a:ext cx="5570169" cy="146596"/>
          </a:xfrm>
          <a:prstGeom prst="rect">
            <a:avLst/>
          </a:prstGeom>
          <a:noFill/>
          <a:ln/>
        </p:spPr>
        <p:txBody>
          <a:bodyPr wrap="square" lIns="0" tIns="0" rIns="0" bIns="0" rtlCol="0" anchor="t"/>
          <a:lstStyle/>
          <a:p>
            <a:pPr marL="0" indent="0" algn="l">
              <a:lnSpc>
                <a:spcPts val="1155"/>
              </a:lnSpc>
              <a:spcAft>
                <a:spcPts val="225"/>
              </a:spcAft>
              <a:buNone/>
            </a:pPr>
            <a:r>
              <a:rPr lang="en-US" sz="825" b="1" dirty="0">
                <a:solidFill>
                  <a:srgbClr val="64748B"/>
                </a:solidFill>
                <a:latin typeface="Arial" pitchFamily="34" charset="0"/>
                <a:ea typeface="Arial" pitchFamily="34" charset="-122"/>
                <a:cs typeface="Arial" pitchFamily="34" charset="-120"/>
              </a:rPr>
              <a:t>PRIMARY CHARACTERISTIC</a:t>
            </a:r>
            <a:endParaRPr lang="en-US" sz="825" dirty="0"/>
          </a:p>
        </p:txBody>
      </p:sp>
      <p:sp>
        <p:nvSpPr>
          <p:cNvPr id="33" name="Text 30">
            <a:extLst>
              <a:ext uri="{FF2B5EF4-FFF2-40B4-BE49-F238E27FC236}">
                <a16:creationId xmlns:a16="http://schemas.microsoft.com/office/drawing/2014/main" id="{E5BA35DC-C508-50EE-3D52-2CCE60C24EF6}"/>
              </a:ext>
            </a:extLst>
          </p:cNvPr>
          <p:cNvSpPr/>
          <p:nvPr/>
        </p:nvSpPr>
        <p:spPr>
          <a:xfrm>
            <a:off x="4718448" y="5197862"/>
            <a:ext cx="5570169" cy="171450"/>
          </a:xfrm>
          <a:prstGeom prst="rect">
            <a:avLst/>
          </a:prstGeom>
          <a:noFill/>
          <a:ln/>
        </p:spPr>
        <p:txBody>
          <a:bodyPr wrap="square" lIns="0" tIns="0" rIns="0" bIns="0" rtlCol="0" anchor="t"/>
          <a:lstStyle/>
          <a:p>
            <a:pPr marL="0" indent="0" algn="l">
              <a:lnSpc>
                <a:spcPts val="1350"/>
              </a:lnSpc>
              <a:buNone/>
            </a:pPr>
            <a:r>
              <a:rPr lang="en-US" sz="900" dirty="0">
                <a:solidFill>
                  <a:srgbClr val="1E293B"/>
                </a:solidFill>
                <a:latin typeface="Arial" pitchFamily="34" charset="0"/>
                <a:ea typeface="Arial" pitchFamily="34" charset="-122"/>
                <a:cs typeface="Arial" pitchFamily="34" charset="-120"/>
              </a:rPr>
              <a:t>Most extreme delayed responses (max: 292 hours), predominantly property crimes</a:t>
            </a:r>
            <a:endParaRPr lang="en-US" sz="900" dirty="0"/>
          </a:p>
        </p:txBody>
      </p:sp>
    </p:spTree>
    <p:extLst>
      <p:ext uri="{BB962C8B-B14F-4D97-AF65-F5344CB8AC3E}">
        <p14:creationId xmlns:p14="http://schemas.microsoft.com/office/powerpoint/2010/main" val="34449407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29CFC0-F21D-9214-1A10-25D585218078}"/>
              </a:ext>
            </a:extLst>
          </p:cNvPr>
          <p:cNvSpPr>
            <a:spLocks noGrp="1"/>
          </p:cNvSpPr>
          <p:nvPr>
            <p:ph type="title"/>
          </p:nvPr>
        </p:nvSpPr>
        <p:spPr/>
        <p:txBody>
          <a:bodyPr/>
          <a:lstStyle/>
          <a:p>
            <a:r>
              <a:rPr lang="en-US" dirty="0"/>
              <a:t>Outlier Detection</a:t>
            </a:r>
          </a:p>
        </p:txBody>
      </p:sp>
      <p:sp>
        <p:nvSpPr>
          <p:cNvPr id="3" name="Content Placeholder 2">
            <a:extLst>
              <a:ext uri="{FF2B5EF4-FFF2-40B4-BE49-F238E27FC236}">
                <a16:creationId xmlns:a16="http://schemas.microsoft.com/office/drawing/2014/main" id="{4405BE73-8330-EC70-8D3F-543FF2E47431}"/>
              </a:ext>
            </a:extLst>
          </p:cNvPr>
          <p:cNvSpPr>
            <a:spLocks noGrp="1"/>
          </p:cNvSpPr>
          <p:nvPr>
            <p:ph idx="1"/>
          </p:nvPr>
        </p:nvSpPr>
        <p:spPr/>
        <p:txBody>
          <a:bodyPr/>
          <a:lstStyle/>
          <a:p>
            <a:r>
              <a:rPr lang="en-US" dirty="0"/>
              <a:t>The data that was prepared during general data preparation consisted 22 attributes.</a:t>
            </a:r>
          </a:p>
          <a:p>
            <a:r>
              <a:rPr lang="en-US" dirty="0"/>
              <a:t>Four methods were used to detect outliers:</a:t>
            </a:r>
          </a:p>
          <a:p>
            <a:pPr algn="just" rtl="0" fontAlgn="base">
              <a:buFont typeface="+mj-lt"/>
              <a:buAutoNum type="arabicPeriod"/>
            </a:pPr>
            <a:r>
              <a:rPr lang="en-CA" sz="1800" b="1" i="0" dirty="0">
                <a:effectLst/>
              </a:rPr>
              <a:t>Local Outlier Factor (LOF):</a:t>
            </a:r>
            <a:r>
              <a:rPr lang="en-CA" sz="1800" b="0" i="0" dirty="0">
                <a:effectLst/>
              </a:rPr>
              <a:t> A density-based method that identifies outliers based on local neighborhood density</a:t>
            </a:r>
            <a:r>
              <a:rPr lang="en-US" sz="1800" b="0" i="0" dirty="0">
                <a:effectLst/>
              </a:rPr>
              <a:t> </a:t>
            </a:r>
          </a:p>
          <a:p>
            <a:pPr algn="just" rtl="0" fontAlgn="base">
              <a:buFont typeface="+mj-lt"/>
              <a:buAutoNum type="arabicPeriod" startAt="2"/>
            </a:pPr>
            <a:r>
              <a:rPr lang="en-CA" sz="1800" b="1" i="0" dirty="0">
                <a:effectLst/>
              </a:rPr>
              <a:t>Isolation Forest (ISF):</a:t>
            </a:r>
            <a:r>
              <a:rPr lang="en-CA" sz="1800" b="0" i="0" dirty="0">
                <a:effectLst/>
              </a:rPr>
              <a:t> A tree-based ensemble method using recursive partitioning to isolate anomalies</a:t>
            </a:r>
            <a:r>
              <a:rPr lang="en-US" sz="1800" b="0" i="0" dirty="0">
                <a:effectLst/>
              </a:rPr>
              <a:t> </a:t>
            </a:r>
          </a:p>
          <a:p>
            <a:pPr algn="just" rtl="0" fontAlgn="base">
              <a:buFont typeface="+mj-lt"/>
              <a:buAutoNum type="arabicPeriod" startAt="3"/>
            </a:pPr>
            <a:r>
              <a:rPr lang="en-CA" sz="1800" b="1" i="0" dirty="0">
                <a:effectLst/>
              </a:rPr>
              <a:t>One-Class SVM:</a:t>
            </a:r>
            <a:r>
              <a:rPr lang="en-CA" sz="1800" b="0" i="0" dirty="0">
                <a:effectLst/>
              </a:rPr>
              <a:t> A boundary-based method learning decision boundaries around normal data</a:t>
            </a:r>
            <a:r>
              <a:rPr lang="en-US" sz="1800" b="0" i="0" dirty="0">
                <a:effectLst/>
              </a:rPr>
              <a:t> </a:t>
            </a:r>
          </a:p>
          <a:p>
            <a:pPr algn="just" rtl="0" fontAlgn="base">
              <a:buFont typeface="+mj-lt"/>
              <a:buAutoNum type="arabicPeriod" startAt="4"/>
            </a:pPr>
            <a:r>
              <a:rPr lang="en-CA" sz="1800" b="1" i="0" dirty="0">
                <a:effectLst/>
              </a:rPr>
              <a:t>Mahalanobis Distance-Based Detection:</a:t>
            </a:r>
            <a:r>
              <a:rPr lang="en-CA" sz="1800" b="0" i="0" dirty="0">
                <a:effectLst/>
              </a:rPr>
              <a:t> A statistical method measuring multivariate distance from the data centroid</a:t>
            </a:r>
            <a:r>
              <a:rPr lang="en-US" sz="1800" b="0" i="0" dirty="0">
                <a:effectLst/>
              </a:rPr>
              <a:t> </a:t>
            </a:r>
          </a:p>
          <a:p>
            <a:pPr marL="0" indent="0">
              <a:buNone/>
            </a:pPr>
            <a:endParaRPr lang="en-US" dirty="0"/>
          </a:p>
        </p:txBody>
      </p:sp>
    </p:spTree>
    <p:extLst>
      <p:ext uri="{BB962C8B-B14F-4D97-AF65-F5344CB8AC3E}">
        <p14:creationId xmlns:p14="http://schemas.microsoft.com/office/powerpoint/2010/main" val="24388089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98626E-68DA-2697-4F23-897FD9555A8F}"/>
              </a:ext>
            </a:extLst>
          </p:cNvPr>
          <p:cNvSpPr>
            <a:spLocks noGrp="1"/>
          </p:cNvSpPr>
          <p:nvPr>
            <p:ph type="title"/>
          </p:nvPr>
        </p:nvSpPr>
        <p:spPr/>
        <p:txBody>
          <a:bodyPr/>
          <a:lstStyle/>
          <a:p>
            <a:r>
              <a:rPr lang="en-US" dirty="0"/>
              <a:t>Model Specific Feature Engineering</a:t>
            </a:r>
          </a:p>
        </p:txBody>
      </p:sp>
      <p:sp>
        <p:nvSpPr>
          <p:cNvPr id="3" name="Content Placeholder 2">
            <a:extLst>
              <a:ext uri="{FF2B5EF4-FFF2-40B4-BE49-F238E27FC236}">
                <a16:creationId xmlns:a16="http://schemas.microsoft.com/office/drawing/2014/main" id="{18AEFB80-C90E-E957-A378-D5A3D610685B}"/>
              </a:ext>
            </a:extLst>
          </p:cNvPr>
          <p:cNvSpPr>
            <a:spLocks noGrp="1"/>
          </p:cNvSpPr>
          <p:nvPr>
            <p:ph idx="1"/>
          </p:nvPr>
        </p:nvSpPr>
        <p:spPr/>
        <p:txBody>
          <a:bodyPr>
            <a:normAutofit lnSpcReduction="10000"/>
          </a:bodyPr>
          <a:lstStyle/>
          <a:p>
            <a:r>
              <a:rPr lang="en-US" dirty="0"/>
              <a:t>Since we already clustered Latitude and Longitude into Zones, X Coordinate and Y Coordinate were dropped. </a:t>
            </a:r>
          </a:p>
          <a:p>
            <a:r>
              <a:rPr lang="en-US" dirty="0"/>
              <a:t>For numerical data, missing values were replaced my the mean and categorical values were replaced by </a:t>
            </a:r>
            <a:r>
              <a:rPr lang="en-US" b="1" dirty="0"/>
              <a:t>“Unknown”. </a:t>
            </a:r>
            <a:endParaRPr lang="en-US" dirty="0"/>
          </a:p>
          <a:p>
            <a:r>
              <a:rPr lang="en-CA" b="0" i="0" dirty="0">
                <a:effectLst/>
              </a:rPr>
              <a:t>The dataset was unified by combining engineered features with original attributes. Numerical and categorical features were processed separately and then integrated into a cohesive dataset suitable for all four outlier detection methods </a:t>
            </a:r>
            <a:endParaRPr lang="en-US" dirty="0"/>
          </a:p>
          <a:p>
            <a:r>
              <a:rPr lang="en-US" dirty="0"/>
              <a:t>After feature engineering, One-Hot Encoding, was applied on categorical data.</a:t>
            </a:r>
          </a:p>
          <a:p>
            <a:r>
              <a:rPr lang="en-US" dirty="0"/>
              <a:t>The was then split into training data and testing data following normalization on numerical data.</a:t>
            </a:r>
          </a:p>
        </p:txBody>
      </p:sp>
    </p:spTree>
    <p:extLst>
      <p:ext uri="{BB962C8B-B14F-4D97-AF65-F5344CB8AC3E}">
        <p14:creationId xmlns:p14="http://schemas.microsoft.com/office/powerpoint/2010/main" val="28161123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0DDB8A-38D4-1293-6D8E-B4BFDACEB074}"/>
              </a:ext>
            </a:extLst>
          </p:cNvPr>
          <p:cNvSpPr>
            <a:spLocks noGrp="1"/>
          </p:cNvSpPr>
          <p:nvPr>
            <p:ph type="title"/>
          </p:nvPr>
        </p:nvSpPr>
        <p:spPr/>
        <p:txBody>
          <a:bodyPr/>
          <a:lstStyle/>
          <a:p>
            <a:r>
              <a:rPr lang="en-US" dirty="0"/>
              <a:t>Outlier Detection Results</a:t>
            </a:r>
          </a:p>
        </p:txBody>
      </p:sp>
      <p:pic>
        <p:nvPicPr>
          <p:cNvPr id="1028" name="Picture 4">
            <a:extLst>
              <a:ext uri="{FF2B5EF4-FFF2-40B4-BE49-F238E27FC236}">
                <a16:creationId xmlns:a16="http://schemas.microsoft.com/office/drawing/2014/main" id="{839EA3E5-E616-1FC2-B2F8-CE12893168E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39638" y="1638794"/>
            <a:ext cx="5997057" cy="4475745"/>
          </a:xfrm>
          <a:prstGeom prst="rect">
            <a:avLst/>
          </a:prstGeom>
          <a:noFill/>
          <a:extLst>
            <a:ext uri="{909E8E84-426E-40DD-AFC4-6F175D3DCCD1}">
              <a14:hiddenFill xmlns:a14="http://schemas.microsoft.com/office/drawing/2010/main">
                <a:solidFill>
                  <a:srgbClr val="FFFFFF"/>
                </a:solidFill>
              </a14:hiddenFill>
            </a:ext>
          </a:extLst>
        </p:spPr>
      </p:pic>
      <p:sp>
        <p:nvSpPr>
          <p:cNvPr id="4" name="Content Placeholder 3">
            <a:extLst>
              <a:ext uri="{FF2B5EF4-FFF2-40B4-BE49-F238E27FC236}">
                <a16:creationId xmlns:a16="http://schemas.microsoft.com/office/drawing/2014/main" id="{46EF9DCF-55B1-A16A-7C5F-AD7CE0403E72}"/>
              </a:ext>
            </a:extLst>
          </p:cNvPr>
          <p:cNvSpPr>
            <a:spLocks noGrp="1"/>
          </p:cNvSpPr>
          <p:nvPr>
            <p:ph idx="1"/>
          </p:nvPr>
        </p:nvSpPr>
        <p:spPr>
          <a:xfrm>
            <a:off x="875201" y="1778925"/>
            <a:ext cx="8946541" cy="4195481"/>
          </a:xfrm>
        </p:spPr>
        <p:txBody>
          <a:bodyPr/>
          <a:lstStyle/>
          <a:p>
            <a:pPr rtl="0" fontAlgn="base"/>
            <a:r>
              <a:rPr lang="en-CA" sz="1400" b="0" i="0" dirty="0">
                <a:effectLst/>
              </a:rPr>
              <a:t>The four methods demonstrated varying </a:t>
            </a:r>
            <a:br>
              <a:rPr lang="en-CA" sz="1400" b="0" i="0" dirty="0">
                <a:effectLst/>
              </a:rPr>
            </a:br>
            <a:r>
              <a:rPr lang="en-CA" sz="1400" b="0" i="0" dirty="0">
                <a:effectLst/>
              </a:rPr>
              <a:t>levels of sensitivity:</a:t>
            </a:r>
            <a:r>
              <a:rPr lang="en-US" sz="1400" b="0" i="0" dirty="0">
                <a:effectLst/>
              </a:rPr>
              <a:t> </a:t>
            </a:r>
          </a:p>
          <a:p>
            <a:pPr rtl="0" fontAlgn="base">
              <a:buFont typeface="Arial" panose="020B0604020202020204" pitchFamily="34" charset="0"/>
              <a:buChar char="•"/>
            </a:pPr>
            <a:r>
              <a:rPr lang="en-CA" sz="1400" b="1" i="0" dirty="0">
                <a:effectLst/>
              </a:rPr>
              <a:t>Local Outlier Factor:</a:t>
            </a:r>
            <a:r>
              <a:rPr lang="en-CA" sz="1400" b="0" i="0" dirty="0">
                <a:effectLst/>
              </a:rPr>
              <a:t> 447 outliers detected</a:t>
            </a:r>
            <a:r>
              <a:rPr lang="en-US" sz="1400" b="0" i="0" dirty="0">
                <a:effectLst/>
              </a:rPr>
              <a:t> </a:t>
            </a:r>
          </a:p>
          <a:p>
            <a:pPr rtl="0" fontAlgn="base">
              <a:buFont typeface="Arial" panose="020B0604020202020204" pitchFamily="34" charset="0"/>
              <a:buChar char="•"/>
            </a:pPr>
            <a:r>
              <a:rPr lang="en-CA" sz="1400" b="1" i="0" dirty="0">
                <a:effectLst/>
              </a:rPr>
              <a:t>Isolation Forest:</a:t>
            </a:r>
            <a:r>
              <a:rPr lang="en-CA" sz="1400" b="0" i="0" dirty="0">
                <a:effectLst/>
              </a:rPr>
              <a:t> 519 outliers detected </a:t>
            </a:r>
            <a:br>
              <a:rPr lang="en-CA" sz="1400" b="0" i="0" dirty="0">
                <a:effectLst/>
              </a:rPr>
            </a:br>
            <a:r>
              <a:rPr lang="en-CA" sz="1400" b="0" i="0" dirty="0">
                <a:effectLst/>
              </a:rPr>
              <a:t>(highest)</a:t>
            </a:r>
            <a:r>
              <a:rPr lang="en-US" sz="1400" b="0" i="0" dirty="0">
                <a:effectLst/>
              </a:rPr>
              <a:t> </a:t>
            </a:r>
          </a:p>
          <a:p>
            <a:pPr rtl="0" fontAlgn="base">
              <a:buFont typeface="Arial" panose="020B0604020202020204" pitchFamily="34" charset="0"/>
              <a:buChar char="•"/>
            </a:pPr>
            <a:r>
              <a:rPr lang="en-CA" sz="1400" b="1" i="0" dirty="0">
                <a:effectLst/>
              </a:rPr>
              <a:t>One-Class SVM:</a:t>
            </a:r>
            <a:r>
              <a:rPr lang="en-CA" sz="1400" b="0" i="0" dirty="0">
                <a:effectLst/>
              </a:rPr>
              <a:t> 489 outliers detected</a:t>
            </a:r>
            <a:r>
              <a:rPr lang="en-US" sz="1400" b="0" i="0" dirty="0">
                <a:effectLst/>
              </a:rPr>
              <a:t> </a:t>
            </a:r>
          </a:p>
          <a:p>
            <a:pPr rtl="0" fontAlgn="base">
              <a:buFont typeface="Arial" panose="020B0604020202020204" pitchFamily="34" charset="0"/>
              <a:buChar char="•"/>
            </a:pPr>
            <a:r>
              <a:rPr lang="en-CA" sz="1400" b="1" i="0" dirty="0">
                <a:effectLst/>
              </a:rPr>
              <a:t>Mahalanobis Distance:</a:t>
            </a:r>
            <a:r>
              <a:rPr lang="en-CA" sz="1400" b="0" i="0" dirty="0">
                <a:effectLst/>
              </a:rPr>
              <a:t> 58 outliers </a:t>
            </a:r>
            <a:br>
              <a:rPr lang="en-CA" sz="1400" b="0" i="0" dirty="0">
                <a:effectLst/>
              </a:rPr>
            </a:br>
            <a:r>
              <a:rPr lang="en-CA" sz="1400" b="0" i="0" dirty="0">
                <a:effectLst/>
              </a:rPr>
              <a:t>detected (lowest)</a:t>
            </a:r>
            <a:r>
              <a:rPr lang="en-US" sz="1400" b="0" i="0" dirty="0">
                <a:effectLst/>
              </a:rPr>
              <a:t> </a:t>
            </a:r>
          </a:p>
          <a:p>
            <a:pPr rtl="0" fontAlgn="base"/>
            <a:r>
              <a:rPr lang="en-CA" sz="1400" b="0" i="0" dirty="0">
                <a:effectLst/>
              </a:rPr>
              <a:t>LOF, ISF, and One-Class SVM showed </a:t>
            </a:r>
            <a:br>
              <a:rPr lang="en-CA" sz="1400" b="0" i="0" dirty="0">
                <a:effectLst/>
              </a:rPr>
            </a:br>
            <a:r>
              <a:rPr lang="en-CA" sz="1400" b="0" i="0" dirty="0">
                <a:effectLst/>
              </a:rPr>
              <a:t>strong consensus, sharing 438 common </a:t>
            </a:r>
            <a:br>
              <a:rPr lang="en-CA" sz="1400" b="0" i="0" dirty="0">
                <a:effectLst/>
              </a:rPr>
            </a:br>
            <a:r>
              <a:rPr lang="en-CA" sz="1400" b="0" i="0" dirty="0">
                <a:effectLst/>
              </a:rPr>
              <a:t>detections. This overlap suggests high </a:t>
            </a:r>
            <a:br>
              <a:rPr lang="en-CA" sz="1400" b="0" i="0" dirty="0">
                <a:effectLst/>
              </a:rPr>
            </a:br>
            <a:r>
              <a:rPr lang="en-CA" sz="1400" b="0" i="0" dirty="0">
                <a:effectLst/>
              </a:rPr>
              <a:t>reliability for these instances as genuine </a:t>
            </a:r>
            <a:br>
              <a:rPr lang="en-CA" sz="1400" b="0" i="0" dirty="0">
                <a:effectLst/>
              </a:rPr>
            </a:br>
            <a:r>
              <a:rPr lang="en-CA" sz="1400" b="0" i="0" dirty="0">
                <a:effectLst/>
              </a:rPr>
              <a:t>anomalies. In contrast, Mahalanobis </a:t>
            </a:r>
            <a:br>
              <a:rPr lang="en-CA" sz="1400" b="0" i="0" dirty="0">
                <a:effectLst/>
              </a:rPr>
            </a:br>
            <a:r>
              <a:rPr lang="en-CA" sz="1400" b="0" i="0" dirty="0">
                <a:effectLst/>
              </a:rPr>
              <a:t>Distance's conservative approach </a:t>
            </a:r>
            <a:br>
              <a:rPr lang="en-CA" sz="1400" b="0" i="0" dirty="0">
                <a:effectLst/>
              </a:rPr>
            </a:br>
            <a:r>
              <a:rPr lang="en-CA" sz="1400" b="0" i="0" dirty="0">
                <a:effectLst/>
              </a:rPr>
              <a:t>resulted in only 9 records overlapping with</a:t>
            </a:r>
            <a:br>
              <a:rPr lang="en-CA" sz="1400" b="0" i="0" dirty="0">
                <a:effectLst/>
              </a:rPr>
            </a:br>
            <a:r>
              <a:rPr lang="en-CA" sz="1400" b="0" i="0" dirty="0">
                <a:effectLst/>
              </a:rPr>
              <a:t> all other methods.</a:t>
            </a:r>
            <a:r>
              <a:rPr lang="en-US" sz="1400" b="0" i="0" dirty="0">
                <a:effectLst/>
              </a:rPr>
              <a:t> </a:t>
            </a:r>
          </a:p>
          <a:p>
            <a:endParaRPr lang="en-US" dirty="0"/>
          </a:p>
        </p:txBody>
      </p:sp>
    </p:spTree>
    <p:extLst>
      <p:ext uri="{BB962C8B-B14F-4D97-AF65-F5344CB8AC3E}">
        <p14:creationId xmlns:p14="http://schemas.microsoft.com/office/powerpoint/2010/main" val="37642678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3B8C4F-F31C-351C-A9AF-37258BB3B292}"/>
              </a:ext>
            </a:extLst>
          </p:cNvPr>
          <p:cNvSpPr>
            <a:spLocks noGrp="1"/>
          </p:cNvSpPr>
          <p:nvPr>
            <p:ph type="title"/>
          </p:nvPr>
        </p:nvSpPr>
        <p:spPr/>
        <p:txBody>
          <a:bodyPr/>
          <a:lstStyle/>
          <a:p>
            <a:r>
              <a:rPr lang="en-US" dirty="0"/>
              <a:t>Common Outliers</a:t>
            </a:r>
          </a:p>
        </p:txBody>
      </p:sp>
      <p:graphicFrame>
        <p:nvGraphicFramePr>
          <p:cNvPr id="4" name="Content Placeholder 3">
            <a:extLst>
              <a:ext uri="{FF2B5EF4-FFF2-40B4-BE49-F238E27FC236}">
                <a16:creationId xmlns:a16="http://schemas.microsoft.com/office/drawing/2014/main" id="{011DB705-5608-463F-072D-BEA9A4C34083}"/>
              </a:ext>
            </a:extLst>
          </p:cNvPr>
          <p:cNvGraphicFramePr>
            <a:graphicFrameLocks noGrp="1"/>
          </p:cNvGraphicFramePr>
          <p:nvPr>
            <p:ph idx="1"/>
            <p:extLst>
              <p:ext uri="{D42A27DB-BD31-4B8C-83A1-F6EECF244321}">
                <p14:modId xmlns:p14="http://schemas.microsoft.com/office/powerpoint/2010/main" val="2857254065"/>
              </p:ext>
            </p:extLst>
          </p:nvPr>
        </p:nvGraphicFramePr>
        <p:xfrm>
          <a:off x="1272747" y="1655274"/>
          <a:ext cx="9316992" cy="4387184"/>
        </p:xfrm>
        <a:graphic>
          <a:graphicData uri="http://schemas.openxmlformats.org/drawingml/2006/table">
            <a:tbl>
              <a:tblPr>
                <a:tableStyleId>{073A0DAA-6AF3-43AB-8588-CEC1D06C72B9}</a:tableStyleId>
              </a:tblPr>
              <a:tblGrid>
                <a:gridCol w="402304">
                  <a:extLst>
                    <a:ext uri="{9D8B030D-6E8A-4147-A177-3AD203B41FA5}">
                      <a16:colId xmlns:a16="http://schemas.microsoft.com/office/drawing/2014/main" val="972843628"/>
                    </a:ext>
                  </a:extLst>
                </a:gridCol>
                <a:gridCol w="1265670">
                  <a:extLst>
                    <a:ext uri="{9D8B030D-6E8A-4147-A177-3AD203B41FA5}">
                      <a16:colId xmlns:a16="http://schemas.microsoft.com/office/drawing/2014/main" val="3001495004"/>
                    </a:ext>
                  </a:extLst>
                </a:gridCol>
                <a:gridCol w="2173973">
                  <a:extLst>
                    <a:ext uri="{9D8B030D-6E8A-4147-A177-3AD203B41FA5}">
                      <a16:colId xmlns:a16="http://schemas.microsoft.com/office/drawing/2014/main" val="4050716873"/>
                    </a:ext>
                  </a:extLst>
                </a:gridCol>
                <a:gridCol w="3052498">
                  <a:extLst>
                    <a:ext uri="{9D8B030D-6E8A-4147-A177-3AD203B41FA5}">
                      <a16:colId xmlns:a16="http://schemas.microsoft.com/office/drawing/2014/main" val="1746844496"/>
                    </a:ext>
                  </a:extLst>
                </a:gridCol>
                <a:gridCol w="2422547">
                  <a:extLst>
                    <a:ext uri="{9D8B030D-6E8A-4147-A177-3AD203B41FA5}">
                      <a16:colId xmlns:a16="http://schemas.microsoft.com/office/drawing/2014/main" val="1514496589"/>
                    </a:ext>
                  </a:extLst>
                </a:gridCol>
              </a:tblGrid>
              <a:tr h="301217">
                <a:tc>
                  <a:txBody>
                    <a:bodyPr/>
                    <a:lstStyle/>
                    <a:p>
                      <a:pPr algn="ctr" fontAlgn="b"/>
                      <a:r>
                        <a:rPr lang="en-CA" sz="900" b="1" u="none" strike="noStrike" dirty="0">
                          <a:effectLst/>
                        </a:rPr>
                        <a:t>Index</a:t>
                      </a:r>
                      <a:endParaRPr lang="en-CA" sz="900" b="1" i="0" u="none" strike="noStrike" dirty="0">
                        <a:solidFill>
                          <a:srgbClr val="000000"/>
                        </a:solidFill>
                        <a:effectLst/>
                        <a:latin typeface="Calibri" panose="020F0502020204030204" pitchFamily="34" charset="0"/>
                      </a:endParaRPr>
                    </a:p>
                  </a:txBody>
                  <a:tcPr marL="4067" marR="4067" marT="4067" marB="0" anchor="b"/>
                </a:tc>
                <a:tc>
                  <a:txBody>
                    <a:bodyPr/>
                    <a:lstStyle/>
                    <a:p>
                      <a:pPr algn="ctr" fontAlgn="b"/>
                      <a:r>
                        <a:rPr lang="en-CA" sz="900" b="1" u="none" strike="noStrike" dirty="0">
                          <a:effectLst/>
                        </a:rPr>
                        <a:t>Incident Type</a:t>
                      </a:r>
                      <a:endParaRPr lang="en-CA" sz="900" b="1" i="0" u="none" strike="noStrike" dirty="0">
                        <a:solidFill>
                          <a:srgbClr val="000000"/>
                        </a:solidFill>
                        <a:effectLst/>
                        <a:latin typeface="Calibri" panose="020F0502020204030204" pitchFamily="34" charset="0"/>
                      </a:endParaRPr>
                    </a:p>
                  </a:txBody>
                  <a:tcPr marL="4067" marR="4067" marT="4067" marB="0" anchor="b"/>
                </a:tc>
                <a:tc>
                  <a:txBody>
                    <a:bodyPr/>
                    <a:lstStyle/>
                    <a:p>
                      <a:pPr algn="ctr" fontAlgn="b"/>
                      <a:r>
                        <a:rPr lang="en-CA" sz="900" b="1" u="none" strike="noStrike" dirty="0">
                          <a:effectLst/>
                        </a:rPr>
                        <a:t>Key Attributes</a:t>
                      </a:r>
                      <a:endParaRPr lang="en-CA" sz="900" b="1" i="0" u="none" strike="noStrike" dirty="0">
                        <a:solidFill>
                          <a:srgbClr val="000000"/>
                        </a:solidFill>
                        <a:effectLst/>
                        <a:latin typeface="Calibri" panose="020F0502020204030204" pitchFamily="34" charset="0"/>
                      </a:endParaRPr>
                    </a:p>
                  </a:txBody>
                  <a:tcPr marL="4067" marR="4067" marT="4067" marB="0" anchor="b"/>
                </a:tc>
                <a:tc>
                  <a:txBody>
                    <a:bodyPr/>
                    <a:lstStyle/>
                    <a:p>
                      <a:pPr algn="ctr" fontAlgn="b"/>
                      <a:r>
                        <a:rPr lang="en-CA" sz="900" b="1" u="none" strike="noStrike" dirty="0">
                          <a:effectLst/>
                        </a:rPr>
                        <a:t>Reason for Outlier</a:t>
                      </a:r>
                      <a:endParaRPr lang="en-CA" sz="900" b="1" i="0" u="none" strike="noStrike" dirty="0">
                        <a:solidFill>
                          <a:srgbClr val="000000"/>
                        </a:solidFill>
                        <a:effectLst/>
                        <a:latin typeface="Calibri" panose="020F0502020204030204" pitchFamily="34" charset="0"/>
                      </a:endParaRPr>
                    </a:p>
                  </a:txBody>
                  <a:tcPr marL="4067" marR="4067" marT="4067" marB="0" anchor="b"/>
                </a:tc>
                <a:tc>
                  <a:txBody>
                    <a:bodyPr/>
                    <a:lstStyle/>
                    <a:p>
                      <a:pPr algn="ctr" fontAlgn="b"/>
                      <a:r>
                        <a:rPr lang="en-CA" sz="900" b="1" u="none" strike="noStrike" dirty="0">
                          <a:effectLst/>
                        </a:rPr>
                        <a:t>Additional Reasons</a:t>
                      </a:r>
                      <a:endParaRPr lang="en-CA" sz="900" b="1" i="0" u="none" strike="noStrike" dirty="0">
                        <a:solidFill>
                          <a:srgbClr val="000000"/>
                        </a:solidFill>
                        <a:effectLst/>
                        <a:latin typeface="Calibri" panose="020F0502020204030204" pitchFamily="34" charset="0"/>
                      </a:endParaRPr>
                    </a:p>
                  </a:txBody>
                  <a:tcPr marL="4067" marR="4067" marT="4067" marB="0" anchor="b"/>
                </a:tc>
                <a:extLst>
                  <a:ext uri="{0D108BD9-81ED-4DB2-BD59-A6C34878D82A}">
                    <a16:rowId xmlns:a16="http://schemas.microsoft.com/office/drawing/2014/main" val="504099622"/>
                  </a:ext>
                </a:extLst>
              </a:tr>
              <a:tr h="328386">
                <a:tc>
                  <a:txBody>
                    <a:bodyPr/>
                    <a:lstStyle/>
                    <a:p>
                      <a:pPr algn="ctr" fontAlgn="b"/>
                      <a:r>
                        <a:rPr lang="en-CA" sz="900" u="none" strike="noStrike">
                          <a:effectLst/>
                        </a:rPr>
                        <a:t>77</a:t>
                      </a:r>
                      <a:endParaRPr lang="en-CA" sz="900" b="0" i="0" u="none" strike="noStrike">
                        <a:solidFill>
                          <a:srgbClr val="000000"/>
                        </a:solidFill>
                        <a:effectLst/>
                        <a:latin typeface="Calibri" panose="020F0502020204030204" pitchFamily="34" charset="0"/>
                      </a:endParaRPr>
                    </a:p>
                  </a:txBody>
                  <a:tcPr marL="4067" marR="4067" marT="4067" marB="0" anchor="b"/>
                </a:tc>
                <a:tc>
                  <a:txBody>
                    <a:bodyPr/>
                    <a:lstStyle/>
                    <a:p>
                      <a:pPr algn="ctr" fontAlgn="b"/>
                      <a:r>
                        <a:rPr lang="en-CA" sz="900" u="none" strike="noStrike" dirty="0">
                          <a:effectLst/>
                        </a:rPr>
                        <a:t>Shooting (Agg Assault)</a:t>
                      </a:r>
                      <a:endParaRPr lang="en-CA" sz="900" b="0" i="0" u="none" strike="noStrike" dirty="0">
                        <a:solidFill>
                          <a:srgbClr val="000000"/>
                        </a:solidFill>
                        <a:effectLst/>
                        <a:latin typeface="Calibri" panose="020F0502020204030204" pitchFamily="34" charset="0"/>
                      </a:endParaRPr>
                    </a:p>
                  </a:txBody>
                  <a:tcPr marL="4067" marR="4067" marT="4067" marB="0" anchor="b"/>
                </a:tc>
                <a:tc>
                  <a:txBody>
                    <a:bodyPr/>
                    <a:lstStyle/>
                    <a:p>
                      <a:pPr algn="ctr" fontAlgn="b"/>
                      <a:r>
                        <a:rPr lang="en-CA" sz="900" u="none" strike="noStrike" dirty="0">
                          <a:effectLst/>
                        </a:rPr>
                        <a:t>Response Time: 5.99 hrs, Report Delay: 3.35 hrs</a:t>
                      </a:r>
                      <a:endParaRPr lang="en-CA" sz="900" b="0" i="0" u="none" strike="noStrike" dirty="0">
                        <a:solidFill>
                          <a:srgbClr val="000000"/>
                        </a:solidFill>
                        <a:effectLst/>
                        <a:latin typeface="Calibri" panose="020F0502020204030204" pitchFamily="34" charset="0"/>
                      </a:endParaRPr>
                    </a:p>
                  </a:txBody>
                  <a:tcPr marL="4067" marR="4067" marT="4067" marB="0" anchor="b"/>
                </a:tc>
                <a:tc>
                  <a:txBody>
                    <a:bodyPr/>
                    <a:lstStyle/>
                    <a:p>
                      <a:pPr algn="ctr" fontAlgn="b"/>
                      <a:r>
                        <a:rPr lang="en-CA" sz="900" u="none" strike="noStrike" dirty="0">
                          <a:effectLst/>
                        </a:rPr>
                        <a:t>Extremely high severity (shooting) combined with </a:t>
                      </a:r>
                    </a:p>
                    <a:p>
                      <a:pPr algn="ctr" fontAlgn="b"/>
                      <a:r>
                        <a:rPr lang="en-CA" sz="900" u="none" strike="noStrike" dirty="0">
                          <a:effectLst/>
                        </a:rPr>
                        <a:t>long response time. High MD score (12.03).</a:t>
                      </a:r>
                      <a:endParaRPr lang="en-CA" sz="900" b="0" i="0" u="none" strike="noStrike" dirty="0">
                        <a:solidFill>
                          <a:srgbClr val="000000"/>
                        </a:solidFill>
                        <a:effectLst/>
                        <a:latin typeface="Calibri" panose="020F0502020204030204" pitchFamily="34" charset="0"/>
                      </a:endParaRPr>
                    </a:p>
                  </a:txBody>
                  <a:tcPr marL="4067" marR="4067" marT="4067" marB="0" anchor="b"/>
                </a:tc>
                <a:tc>
                  <a:txBody>
                    <a:bodyPr/>
                    <a:lstStyle/>
                    <a:p>
                      <a:pPr algn="ctr" fontAlgn="b"/>
                      <a:r>
                        <a:rPr lang="en-CA" sz="900" u="none" strike="noStrike" dirty="0">
                          <a:effectLst/>
                        </a:rPr>
                        <a:t>Geospatial anomaly; rare shooting in low-crime beat; multivariate deviation.</a:t>
                      </a:r>
                      <a:endParaRPr lang="en-CA" sz="900" b="0" i="0" u="none" strike="noStrike" dirty="0">
                        <a:solidFill>
                          <a:srgbClr val="000000"/>
                        </a:solidFill>
                        <a:effectLst/>
                        <a:latin typeface="Calibri" panose="020F0502020204030204" pitchFamily="34" charset="0"/>
                      </a:endParaRPr>
                    </a:p>
                  </a:txBody>
                  <a:tcPr marL="4067" marR="4067" marT="4067" marB="0" anchor="b"/>
                </a:tc>
                <a:extLst>
                  <a:ext uri="{0D108BD9-81ED-4DB2-BD59-A6C34878D82A}">
                    <a16:rowId xmlns:a16="http://schemas.microsoft.com/office/drawing/2014/main" val="3742534009"/>
                  </a:ext>
                </a:extLst>
              </a:tr>
              <a:tr h="489885">
                <a:tc>
                  <a:txBody>
                    <a:bodyPr/>
                    <a:lstStyle/>
                    <a:p>
                      <a:pPr algn="ctr" fontAlgn="b"/>
                      <a:r>
                        <a:rPr lang="en-CA" sz="900" u="none" strike="noStrike">
                          <a:effectLst/>
                        </a:rPr>
                        <a:t>38</a:t>
                      </a:r>
                      <a:endParaRPr lang="en-CA" sz="900" b="0" i="0" u="none" strike="noStrike">
                        <a:solidFill>
                          <a:srgbClr val="000000"/>
                        </a:solidFill>
                        <a:effectLst/>
                        <a:latin typeface="Calibri" panose="020F0502020204030204" pitchFamily="34" charset="0"/>
                      </a:endParaRPr>
                    </a:p>
                  </a:txBody>
                  <a:tcPr marL="4067" marR="4067" marT="4067" marB="0" anchor="b"/>
                </a:tc>
                <a:tc>
                  <a:txBody>
                    <a:bodyPr/>
                    <a:lstStyle/>
                    <a:p>
                      <a:pPr algn="ctr" fontAlgn="b"/>
                      <a:r>
                        <a:rPr lang="en-CA" sz="900" u="none" strike="noStrike" dirty="0">
                          <a:effectLst/>
                        </a:rPr>
                        <a:t>Unauthorized Use of Motor Vehicle</a:t>
                      </a:r>
                      <a:endParaRPr lang="en-CA" sz="900" b="0" i="0" u="none" strike="noStrike" dirty="0">
                        <a:solidFill>
                          <a:srgbClr val="000000"/>
                        </a:solidFill>
                        <a:effectLst/>
                        <a:latin typeface="Calibri" panose="020F0502020204030204" pitchFamily="34" charset="0"/>
                      </a:endParaRPr>
                    </a:p>
                  </a:txBody>
                  <a:tcPr marL="4067" marR="4067" marT="4067" marB="0" anchor="b"/>
                </a:tc>
                <a:tc>
                  <a:txBody>
                    <a:bodyPr/>
                    <a:lstStyle/>
                    <a:p>
                      <a:pPr algn="ctr" fontAlgn="b"/>
                      <a:r>
                        <a:rPr lang="en-CA" sz="900" u="none" strike="noStrike" dirty="0">
                          <a:effectLst/>
                        </a:rPr>
                        <a:t>Response Time: 0.86 hrs, Report Delay: 3.52 hrs</a:t>
                      </a:r>
                      <a:endParaRPr lang="en-CA" sz="900" b="0" i="0" u="none" strike="noStrike" dirty="0">
                        <a:solidFill>
                          <a:srgbClr val="000000"/>
                        </a:solidFill>
                        <a:effectLst/>
                        <a:latin typeface="Calibri" panose="020F0502020204030204" pitchFamily="34" charset="0"/>
                      </a:endParaRPr>
                    </a:p>
                  </a:txBody>
                  <a:tcPr marL="4067" marR="4067" marT="4067" marB="0" anchor="b"/>
                </a:tc>
                <a:tc>
                  <a:txBody>
                    <a:bodyPr/>
                    <a:lstStyle/>
                    <a:p>
                      <a:pPr algn="ctr" fontAlgn="b"/>
                      <a:r>
                        <a:rPr lang="en-CA" sz="900" u="none" strike="noStrike" dirty="0">
                          <a:effectLst/>
                        </a:rPr>
                        <a:t>Quick response but long reporting delay. </a:t>
                      </a:r>
                    </a:p>
                    <a:p>
                      <a:pPr algn="ctr" fontAlgn="b"/>
                      <a:r>
                        <a:rPr lang="en-CA" sz="900" u="none" strike="noStrike" dirty="0">
                          <a:effectLst/>
                        </a:rPr>
                        <a:t>MD score (8.99) suggests spatial/temporal anomaly.</a:t>
                      </a:r>
                      <a:endParaRPr lang="en-CA" sz="900" b="0" i="0" u="none" strike="noStrike" dirty="0">
                        <a:solidFill>
                          <a:srgbClr val="000000"/>
                        </a:solidFill>
                        <a:effectLst/>
                        <a:latin typeface="Calibri" panose="020F0502020204030204" pitchFamily="34" charset="0"/>
                      </a:endParaRPr>
                    </a:p>
                  </a:txBody>
                  <a:tcPr marL="4067" marR="4067" marT="4067" marB="0" anchor="b"/>
                </a:tc>
                <a:tc>
                  <a:txBody>
                    <a:bodyPr/>
                    <a:lstStyle/>
                    <a:p>
                      <a:pPr algn="ctr" fontAlgn="b"/>
                      <a:r>
                        <a:rPr lang="en-CA" sz="900" u="none" strike="noStrike" dirty="0">
                          <a:effectLst/>
                        </a:rPr>
                        <a:t>Crime-context mismatch; unusual location for UUMV; temporal irregularity.</a:t>
                      </a:r>
                      <a:endParaRPr lang="en-CA" sz="900" b="0" i="0" u="none" strike="noStrike" dirty="0">
                        <a:solidFill>
                          <a:srgbClr val="000000"/>
                        </a:solidFill>
                        <a:effectLst/>
                        <a:latin typeface="Calibri" panose="020F0502020204030204" pitchFamily="34" charset="0"/>
                      </a:endParaRPr>
                    </a:p>
                  </a:txBody>
                  <a:tcPr marL="4067" marR="4067" marT="4067" marB="0" anchor="b"/>
                </a:tc>
                <a:extLst>
                  <a:ext uri="{0D108BD9-81ED-4DB2-BD59-A6C34878D82A}">
                    <a16:rowId xmlns:a16="http://schemas.microsoft.com/office/drawing/2014/main" val="2203452068"/>
                  </a:ext>
                </a:extLst>
              </a:tr>
              <a:tr h="489885">
                <a:tc>
                  <a:txBody>
                    <a:bodyPr/>
                    <a:lstStyle/>
                    <a:p>
                      <a:pPr algn="ctr" fontAlgn="b"/>
                      <a:r>
                        <a:rPr lang="en-CA" sz="900" u="none" strike="noStrike">
                          <a:effectLst/>
                        </a:rPr>
                        <a:t>149</a:t>
                      </a:r>
                      <a:endParaRPr lang="en-CA" sz="900" b="0" i="0" u="none" strike="noStrike">
                        <a:solidFill>
                          <a:srgbClr val="000000"/>
                        </a:solidFill>
                        <a:effectLst/>
                        <a:latin typeface="Calibri" panose="020F0502020204030204" pitchFamily="34" charset="0"/>
                      </a:endParaRPr>
                    </a:p>
                  </a:txBody>
                  <a:tcPr marL="4067" marR="4067" marT="4067" marB="0" anchor="b"/>
                </a:tc>
                <a:tc>
                  <a:txBody>
                    <a:bodyPr/>
                    <a:lstStyle/>
                    <a:p>
                      <a:pPr algn="ctr" fontAlgn="b"/>
                      <a:r>
                        <a:rPr lang="en-CA" sz="900" u="none" strike="noStrike">
                          <a:effectLst/>
                        </a:rPr>
                        <a:t>Burglary Motor Vehicle</a:t>
                      </a:r>
                      <a:endParaRPr lang="en-CA" sz="900" b="0" i="0" u="none" strike="noStrike">
                        <a:solidFill>
                          <a:srgbClr val="000000"/>
                        </a:solidFill>
                        <a:effectLst/>
                        <a:latin typeface="Calibri" panose="020F0502020204030204" pitchFamily="34" charset="0"/>
                      </a:endParaRPr>
                    </a:p>
                  </a:txBody>
                  <a:tcPr marL="4067" marR="4067" marT="4067" marB="0" anchor="b"/>
                </a:tc>
                <a:tc>
                  <a:txBody>
                    <a:bodyPr/>
                    <a:lstStyle/>
                    <a:p>
                      <a:pPr algn="ctr" fontAlgn="b"/>
                      <a:r>
                        <a:rPr lang="en-CA" sz="900" u="none" strike="noStrike">
                          <a:effectLst/>
                        </a:rPr>
                        <a:t>Response Time: 2.04 hrs, Report Delay: 17.21 hrs</a:t>
                      </a:r>
                      <a:endParaRPr lang="en-CA" sz="900" b="0" i="0" u="none" strike="noStrike">
                        <a:solidFill>
                          <a:srgbClr val="000000"/>
                        </a:solidFill>
                        <a:effectLst/>
                        <a:latin typeface="Calibri" panose="020F0502020204030204" pitchFamily="34" charset="0"/>
                      </a:endParaRPr>
                    </a:p>
                  </a:txBody>
                  <a:tcPr marL="4067" marR="4067" marT="4067" marB="0" anchor="b"/>
                </a:tc>
                <a:tc>
                  <a:txBody>
                    <a:bodyPr/>
                    <a:lstStyle/>
                    <a:p>
                      <a:pPr algn="ctr" fontAlgn="b"/>
                      <a:r>
                        <a:rPr lang="en-CA" sz="900" u="none" strike="noStrike" dirty="0">
                          <a:effectLst/>
                        </a:rPr>
                        <a:t>Very long reporting delay compared to typical </a:t>
                      </a:r>
                    </a:p>
                    <a:p>
                      <a:pPr algn="ctr" fontAlgn="b"/>
                      <a:r>
                        <a:rPr lang="en-CA" sz="900" u="none" strike="noStrike" dirty="0">
                          <a:effectLst/>
                        </a:rPr>
                        <a:t>BMV cases. High MD score (8.25).</a:t>
                      </a:r>
                      <a:endParaRPr lang="en-CA" sz="900" b="0" i="0" u="none" strike="noStrike" dirty="0">
                        <a:solidFill>
                          <a:srgbClr val="000000"/>
                        </a:solidFill>
                        <a:effectLst/>
                        <a:latin typeface="Calibri" panose="020F0502020204030204" pitchFamily="34" charset="0"/>
                      </a:endParaRPr>
                    </a:p>
                  </a:txBody>
                  <a:tcPr marL="4067" marR="4067" marT="4067" marB="0" anchor="b"/>
                </a:tc>
                <a:tc>
                  <a:txBody>
                    <a:bodyPr/>
                    <a:lstStyle/>
                    <a:p>
                      <a:pPr algn="ctr" fontAlgn="b"/>
                      <a:r>
                        <a:rPr lang="en-CA" sz="900" u="none" strike="noStrike">
                          <a:effectLst/>
                        </a:rPr>
                        <a:t>Long reporting delay; property crime in atypical sector; feature interaction anomaly.</a:t>
                      </a:r>
                      <a:endParaRPr lang="en-CA" sz="900" b="0" i="0" u="none" strike="noStrike">
                        <a:solidFill>
                          <a:srgbClr val="000000"/>
                        </a:solidFill>
                        <a:effectLst/>
                        <a:latin typeface="Calibri" panose="020F0502020204030204" pitchFamily="34" charset="0"/>
                      </a:endParaRPr>
                    </a:p>
                  </a:txBody>
                  <a:tcPr marL="4067" marR="4067" marT="4067" marB="0" anchor="b"/>
                </a:tc>
                <a:extLst>
                  <a:ext uri="{0D108BD9-81ED-4DB2-BD59-A6C34878D82A}">
                    <a16:rowId xmlns:a16="http://schemas.microsoft.com/office/drawing/2014/main" val="4290119875"/>
                  </a:ext>
                </a:extLst>
              </a:tr>
              <a:tr h="489885">
                <a:tc>
                  <a:txBody>
                    <a:bodyPr/>
                    <a:lstStyle/>
                    <a:p>
                      <a:pPr algn="ctr" fontAlgn="b"/>
                      <a:r>
                        <a:rPr lang="en-CA" sz="900" u="none" strike="noStrike">
                          <a:effectLst/>
                        </a:rPr>
                        <a:t>280</a:t>
                      </a:r>
                      <a:endParaRPr lang="en-CA" sz="900" b="0" i="0" u="none" strike="noStrike">
                        <a:solidFill>
                          <a:srgbClr val="000000"/>
                        </a:solidFill>
                        <a:effectLst/>
                        <a:latin typeface="Calibri" panose="020F0502020204030204" pitchFamily="34" charset="0"/>
                      </a:endParaRPr>
                    </a:p>
                  </a:txBody>
                  <a:tcPr marL="4067" marR="4067" marT="4067" marB="0" anchor="b"/>
                </a:tc>
                <a:tc>
                  <a:txBody>
                    <a:bodyPr/>
                    <a:lstStyle/>
                    <a:p>
                      <a:pPr algn="ctr" fontAlgn="b"/>
                      <a:r>
                        <a:rPr lang="en-CA" sz="900" u="none" strike="noStrike">
                          <a:effectLst/>
                        </a:rPr>
                        <a:t>Major Accident</a:t>
                      </a:r>
                      <a:endParaRPr lang="en-CA" sz="900" b="0" i="0" u="none" strike="noStrike">
                        <a:solidFill>
                          <a:srgbClr val="000000"/>
                        </a:solidFill>
                        <a:effectLst/>
                        <a:latin typeface="Calibri" panose="020F0502020204030204" pitchFamily="34" charset="0"/>
                      </a:endParaRPr>
                    </a:p>
                  </a:txBody>
                  <a:tcPr marL="4067" marR="4067" marT="4067" marB="0" anchor="b"/>
                </a:tc>
                <a:tc>
                  <a:txBody>
                    <a:bodyPr/>
                    <a:lstStyle/>
                    <a:p>
                      <a:pPr algn="ctr" fontAlgn="b"/>
                      <a:r>
                        <a:rPr lang="en-CA" sz="900" u="none" strike="noStrike" dirty="0">
                          <a:effectLst/>
                        </a:rPr>
                        <a:t>Response Time: 2.20 hrs, Report Delay: 1.25 hrs</a:t>
                      </a:r>
                      <a:endParaRPr lang="en-CA" sz="900" b="0" i="0" u="none" strike="noStrike" dirty="0">
                        <a:solidFill>
                          <a:srgbClr val="000000"/>
                        </a:solidFill>
                        <a:effectLst/>
                        <a:latin typeface="Calibri" panose="020F0502020204030204" pitchFamily="34" charset="0"/>
                      </a:endParaRPr>
                    </a:p>
                  </a:txBody>
                  <a:tcPr marL="4067" marR="4067" marT="4067" marB="0" anchor="b"/>
                </a:tc>
                <a:tc>
                  <a:txBody>
                    <a:bodyPr/>
                    <a:lstStyle/>
                    <a:p>
                      <a:pPr algn="ctr" fontAlgn="b"/>
                      <a:r>
                        <a:rPr lang="en-CA" sz="900" u="none" strike="noStrike" dirty="0">
                          <a:effectLst/>
                        </a:rPr>
                        <a:t>Accident cases usually have faster response; </a:t>
                      </a:r>
                    </a:p>
                    <a:p>
                      <a:pPr algn="ctr" fontAlgn="b"/>
                      <a:r>
                        <a:rPr lang="en-CA" sz="900" u="none" strike="noStrike" dirty="0">
                          <a:effectLst/>
                        </a:rPr>
                        <a:t>slower than norm. MD score (6.96).</a:t>
                      </a:r>
                      <a:endParaRPr lang="en-CA" sz="900" b="0" i="0" u="none" strike="noStrike" dirty="0">
                        <a:solidFill>
                          <a:srgbClr val="000000"/>
                        </a:solidFill>
                        <a:effectLst/>
                        <a:latin typeface="Calibri" panose="020F0502020204030204" pitchFamily="34" charset="0"/>
                      </a:endParaRPr>
                    </a:p>
                  </a:txBody>
                  <a:tcPr marL="4067" marR="4067" marT="4067" marB="0" anchor="b"/>
                </a:tc>
                <a:tc>
                  <a:txBody>
                    <a:bodyPr/>
                    <a:lstStyle/>
                    <a:p>
                      <a:pPr algn="ctr" fontAlgn="b"/>
                      <a:r>
                        <a:rPr lang="en-CA" sz="900" u="none" strike="noStrike" dirty="0">
                          <a:effectLst/>
                        </a:rPr>
                        <a:t>Accident response slower than norm; unusual day/time pattern; spatial deviation.</a:t>
                      </a:r>
                      <a:endParaRPr lang="en-CA" sz="900" b="0" i="0" u="none" strike="noStrike" dirty="0">
                        <a:solidFill>
                          <a:srgbClr val="000000"/>
                        </a:solidFill>
                        <a:effectLst/>
                        <a:latin typeface="Calibri" panose="020F0502020204030204" pitchFamily="34" charset="0"/>
                      </a:endParaRPr>
                    </a:p>
                  </a:txBody>
                  <a:tcPr marL="4067" marR="4067" marT="4067" marB="0" anchor="b"/>
                </a:tc>
                <a:extLst>
                  <a:ext uri="{0D108BD9-81ED-4DB2-BD59-A6C34878D82A}">
                    <a16:rowId xmlns:a16="http://schemas.microsoft.com/office/drawing/2014/main" val="3864048234"/>
                  </a:ext>
                </a:extLst>
              </a:tr>
              <a:tr h="489885">
                <a:tc>
                  <a:txBody>
                    <a:bodyPr/>
                    <a:lstStyle/>
                    <a:p>
                      <a:pPr algn="ctr" fontAlgn="b"/>
                      <a:r>
                        <a:rPr lang="en-CA" sz="900" u="none" strike="noStrike">
                          <a:effectLst/>
                        </a:rPr>
                        <a:t>91</a:t>
                      </a:r>
                      <a:endParaRPr lang="en-CA" sz="900" b="0" i="0" u="none" strike="noStrike">
                        <a:solidFill>
                          <a:srgbClr val="000000"/>
                        </a:solidFill>
                        <a:effectLst/>
                        <a:latin typeface="Calibri" panose="020F0502020204030204" pitchFamily="34" charset="0"/>
                      </a:endParaRPr>
                    </a:p>
                  </a:txBody>
                  <a:tcPr marL="4067" marR="4067" marT="4067" marB="0" anchor="b"/>
                </a:tc>
                <a:tc>
                  <a:txBody>
                    <a:bodyPr/>
                    <a:lstStyle/>
                    <a:p>
                      <a:pPr algn="ctr" fontAlgn="b"/>
                      <a:r>
                        <a:rPr lang="en-CA" sz="900" u="none" strike="noStrike">
                          <a:effectLst/>
                        </a:rPr>
                        <a:t>Routine Investigation (BMV)</a:t>
                      </a:r>
                      <a:endParaRPr lang="en-CA" sz="900" b="0" i="0" u="none" strike="noStrike">
                        <a:solidFill>
                          <a:srgbClr val="000000"/>
                        </a:solidFill>
                        <a:effectLst/>
                        <a:latin typeface="Calibri" panose="020F0502020204030204" pitchFamily="34" charset="0"/>
                      </a:endParaRPr>
                    </a:p>
                  </a:txBody>
                  <a:tcPr marL="4067" marR="4067" marT="4067" marB="0" anchor="b"/>
                </a:tc>
                <a:tc>
                  <a:txBody>
                    <a:bodyPr/>
                    <a:lstStyle/>
                    <a:p>
                      <a:pPr algn="ctr" fontAlgn="b"/>
                      <a:r>
                        <a:rPr lang="en-CA" sz="900" u="none" strike="noStrike">
                          <a:effectLst/>
                        </a:rPr>
                        <a:t>Response Time: 0.65 hrs, Report Delay: 138.45 hrs</a:t>
                      </a:r>
                      <a:endParaRPr lang="en-CA" sz="900" b="0" i="0" u="none" strike="noStrike">
                        <a:solidFill>
                          <a:srgbClr val="000000"/>
                        </a:solidFill>
                        <a:effectLst/>
                        <a:latin typeface="Calibri" panose="020F0502020204030204" pitchFamily="34" charset="0"/>
                      </a:endParaRPr>
                    </a:p>
                  </a:txBody>
                  <a:tcPr marL="4067" marR="4067" marT="4067" marB="0" anchor="b"/>
                </a:tc>
                <a:tc>
                  <a:txBody>
                    <a:bodyPr/>
                    <a:lstStyle/>
                    <a:p>
                      <a:pPr algn="ctr" fontAlgn="b"/>
                      <a:r>
                        <a:rPr lang="en-CA" sz="900" u="none" strike="noStrike" dirty="0">
                          <a:effectLst/>
                        </a:rPr>
                        <a:t>Extremely delayed reporting (almost 6 days). </a:t>
                      </a:r>
                    </a:p>
                    <a:p>
                      <a:pPr algn="ctr" fontAlgn="b"/>
                      <a:r>
                        <a:rPr lang="en-CA" sz="900" u="none" strike="noStrike" dirty="0">
                          <a:effectLst/>
                        </a:rPr>
                        <a:t>Highest MD score (77.36).</a:t>
                      </a:r>
                      <a:endParaRPr lang="en-CA" sz="900" b="0" i="0" u="none" strike="noStrike" dirty="0">
                        <a:solidFill>
                          <a:srgbClr val="000000"/>
                        </a:solidFill>
                        <a:effectLst/>
                        <a:latin typeface="Calibri" panose="020F0502020204030204" pitchFamily="34" charset="0"/>
                      </a:endParaRPr>
                    </a:p>
                  </a:txBody>
                  <a:tcPr marL="4067" marR="4067" marT="4067" marB="0" anchor="b"/>
                </a:tc>
                <a:tc>
                  <a:txBody>
                    <a:bodyPr/>
                    <a:lstStyle/>
                    <a:p>
                      <a:pPr algn="ctr" fontAlgn="b"/>
                      <a:r>
                        <a:rPr lang="en-CA" sz="900" u="none" strike="noStrike" dirty="0">
                          <a:effectLst/>
                        </a:rPr>
                        <a:t>Extreme temporal anomaly (6-day delay); rare pattern for BMV; highest MD score.</a:t>
                      </a:r>
                      <a:endParaRPr lang="en-CA" sz="900" b="0" i="0" u="none" strike="noStrike" dirty="0">
                        <a:solidFill>
                          <a:srgbClr val="000000"/>
                        </a:solidFill>
                        <a:effectLst/>
                        <a:latin typeface="Calibri" panose="020F0502020204030204" pitchFamily="34" charset="0"/>
                      </a:endParaRPr>
                    </a:p>
                  </a:txBody>
                  <a:tcPr marL="4067" marR="4067" marT="4067" marB="0" anchor="b"/>
                </a:tc>
                <a:extLst>
                  <a:ext uri="{0D108BD9-81ED-4DB2-BD59-A6C34878D82A}">
                    <a16:rowId xmlns:a16="http://schemas.microsoft.com/office/drawing/2014/main" val="1603888387"/>
                  </a:ext>
                </a:extLst>
              </a:tr>
              <a:tr h="328386">
                <a:tc>
                  <a:txBody>
                    <a:bodyPr/>
                    <a:lstStyle/>
                    <a:p>
                      <a:pPr algn="ctr" fontAlgn="b"/>
                      <a:r>
                        <a:rPr lang="en-CA" sz="900" u="none" strike="noStrike">
                          <a:effectLst/>
                        </a:rPr>
                        <a:t>93</a:t>
                      </a:r>
                      <a:endParaRPr lang="en-CA" sz="900" b="0" i="0" u="none" strike="noStrike">
                        <a:solidFill>
                          <a:srgbClr val="000000"/>
                        </a:solidFill>
                        <a:effectLst/>
                        <a:latin typeface="Calibri" panose="020F0502020204030204" pitchFamily="34" charset="0"/>
                      </a:endParaRPr>
                    </a:p>
                  </a:txBody>
                  <a:tcPr marL="4067" marR="4067" marT="4067" marB="0" anchor="b"/>
                </a:tc>
                <a:tc>
                  <a:txBody>
                    <a:bodyPr/>
                    <a:lstStyle/>
                    <a:p>
                      <a:pPr algn="ctr" fontAlgn="b"/>
                      <a:r>
                        <a:rPr lang="en-CA" sz="900" u="none" strike="noStrike">
                          <a:effectLst/>
                        </a:rPr>
                        <a:t>Criminal Mischief</a:t>
                      </a:r>
                      <a:endParaRPr lang="en-CA" sz="900" b="0" i="0" u="none" strike="noStrike">
                        <a:solidFill>
                          <a:srgbClr val="000000"/>
                        </a:solidFill>
                        <a:effectLst/>
                        <a:latin typeface="Calibri" panose="020F0502020204030204" pitchFamily="34" charset="0"/>
                      </a:endParaRPr>
                    </a:p>
                  </a:txBody>
                  <a:tcPr marL="4067" marR="4067" marT="4067" marB="0" anchor="b"/>
                </a:tc>
                <a:tc>
                  <a:txBody>
                    <a:bodyPr/>
                    <a:lstStyle/>
                    <a:p>
                      <a:pPr algn="ctr" fontAlgn="b"/>
                      <a:r>
                        <a:rPr lang="en-CA" sz="900" u="none" strike="noStrike">
                          <a:effectLst/>
                        </a:rPr>
                        <a:t>Response Time: 3.30 hrs, Report Delay: 38.83 hrs</a:t>
                      </a:r>
                      <a:endParaRPr lang="en-CA" sz="900" b="0" i="0" u="none" strike="noStrike">
                        <a:solidFill>
                          <a:srgbClr val="000000"/>
                        </a:solidFill>
                        <a:effectLst/>
                        <a:latin typeface="Calibri" panose="020F0502020204030204" pitchFamily="34" charset="0"/>
                      </a:endParaRPr>
                    </a:p>
                  </a:txBody>
                  <a:tcPr marL="4067" marR="4067" marT="4067" marB="0" anchor="b"/>
                </a:tc>
                <a:tc>
                  <a:txBody>
                    <a:bodyPr/>
                    <a:lstStyle/>
                    <a:p>
                      <a:pPr algn="ctr" fontAlgn="b"/>
                      <a:r>
                        <a:rPr lang="en-CA" sz="900" u="none" strike="noStrike" dirty="0">
                          <a:effectLst/>
                        </a:rPr>
                        <a:t>Very long reporting delay for vandalism. </a:t>
                      </a:r>
                    </a:p>
                    <a:p>
                      <a:pPr algn="ctr" fontAlgn="b"/>
                      <a:r>
                        <a:rPr lang="en-CA" sz="900" u="none" strike="noStrike" dirty="0">
                          <a:effectLst/>
                        </a:rPr>
                        <a:t>MD score (6.41).</a:t>
                      </a:r>
                      <a:endParaRPr lang="en-CA" sz="900" b="0" i="0" u="none" strike="noStrike" dirty="0">
                        <a:solidFill>
                          <a:srgbClr val="000000"/>
                        </a:solidFill>
                        <a:effectLst/>
                        <a:latin typeface="Calibri" panose="020F0502020204030204" pitchFamily="34" charset="0"/>
                      </a:endParaRPr>
                    </a:p>
                  </a:txBody>
                  <a:tcPr marL="4067" marR="4067" marT="4067" marB="0" anchor="b"/>
                </a:tc>
                <a:tc>
                  <a:txBody>
                    <a:bodyPr/>
                    <a:lstStyle/>
                    <a:p>
                      <a:pPr algn="ctr" fontAlgn="b"/>
                      <a:r>
                        <a:rPr lang="en-CA" sz="900" u="none" strike="noStrike" dirty="0">
                          <a:effectLst/>
                        </a:rPr>
                        <a:t>Unusual vandalism context; long delay; demographic rarity for location.</a:t>
                      </a:r>
                      <a:endParaRPr lang="en-CA" sz="900" b="0" i="0" u="none" strike="noStrike" dirty="0">
                        <a:solidFill>
                          <a:srgbClr val="000000"/>
                        </a:solidFill>
                        <a:effectLst/>
                        <a:latin typeface="Calibri" panose="020F0502020204030204" pitchFamily="34" charset="0"/>
                      </a:endParaRPr>
                    </a:p>
                  </a:txBody>
                  <a:tcPr marL="4067" marR="4067" marT="4067" marB="0" anchor="b"/>
                </a:tc>
                <a:extLst>
                  <a:ext uri="{0D108BD9-81ED-4DB2-BD59-A6C34878D82A}">
                    <a16:rowId xmlns:a16="http://schemas.microsoft.com/office/drawing/2014/main" val="3667392725"/>
                  </a:ext>
                </a:extLst>
              </a:tr>
              <a:tr h="489885">
                <a:tc>
                  <a:txBody>
                    <a:bodyPr/>
                    <a:lstStyle/>
                    <a:p>
                      <a:pPr algn="ctr" fontAlgn="b"/>
                      <a:r>
                        <a:rPr lang="en-CA" sz="900" u="none" strike="noStrike">
                          <a:effectLst/>
                        </a:rPr>
                        <a:t>358</a:t>
                      </a:r>
                      <a:endParaRPr lang="en-CA" sz="900" b="0" i="0" u="none" strike="noStrike">
                        <a:solidFill>
                          <a:srgbClr val="000000"/>
                        </a:solidFill>
                        <a:effectLst/>
                        <a:latin typeface="Calibri" panose="020F0502020204030204" pitchFamily="34" charset="0"/>
                      </a:endParaRPr>
                    </a:p>
                  </a:txBody>
                  <a:tcPr marL="4067" marR="4067" marT="4067" marB="0" anchor="b"/>
                </a:tc>
                <a:tc>
                  <a:txBody>
                    <a:bodyPr/>
                    <a:lstStyle/>
                    <a:p>
                      <a:pPr algn="ctr" fontAlgn="b"/>
                      <a:r>
                        <a:rPr lang="en-CA" sz="900" u="none" strike="noStrike">
                          <a:effectLst/>
                        </a:rPr>
                        <a:t>Robbery of Business</a:t>
                      </a:r>
                      <a:endParaRPr lang="en-CA" sz="900" b="0" i="0" u="none" strike="noStrike">
                        <a:solidFill>
                          <a:srgbClr val="000000"/>
                        </a:solidFill>
                        <a:effectLst/>
                        <a:latin typeface="Calibri" panose="020F0502020204030204" pitchFamily="34" charset="0"/>
                      </a:endParaRPr>
                    </a:p>
                  </a:txBody>
                  <a:tcPr marL="4067" marR="4067" marT="4067" marB="0" anchor="b"/>
                </a:tc>
                <a:tc>
                  <a:txBody>
                    <a:bodyPr/>
                    <a:lstStyle/>
                    <a:p>
                      <a:pPr algn="ctr" fontAlgn="b"/>
                      <a:r>
                        <a:rPr lang="en-CA" sz="900" u="none" strike="noStrike">
                          <a:effectLst/>
                        </a:rPr>
                        <a:t>Response Time: 3.09 hrs, Report Delay: 0.10 hrs</a:t>
                      </a:r>
                      <a:endParaRPr lang="en-CA" sz="900" b="0" i="0" u="none" strike="noStrike">
                        <a:solidFill>
                          <a:srgbClr val="000000"/>
                        </a:solidFill>
                        <a:effectLst/>
                        <a:latin typeface="Calibri" panose="020F0502020204030204" pitchFamily="34" charset="0"/>
                      </a:endParaRPr>
                    </a:p>
                  </a:txBody>
                  <a:tcPr marL="4067" marR="4067" marT="4067" marB="0" anchor="b"/>
                </a:tc>
                <a:tc>
                  <a:txBody>
                    <a:bodyPr/>
                    <a:lstStyle/>
                    <a:p>
                      <a:pPr algn="ctr" fontAlgn="b"/>
                      <a:r>
                        <a:rPr lang="en-CA" sz="900" u="none" strike="noStrike" dirty="0">
                          <a:effectLst/>
                        </a:rPr>
                        <a:t>Robbery cases usually have immediate response; </a:t>
                      </a:r>
                    </a:p>
                    <a:p>
                      <a:pPr algn="ctr" fontAlgn="b"/>
                      <a:r>
                        <a:rPr lang="en-CA" sz="900" u="none" strike="noStrike" dirty="0">
                          <a:effectLst/>
                        </a:rPr>
                        <a:t>unusually slow here. Negative LOF deviation.</a:t>
                      </a:r>
                      <a:endParaRPr lang="en-CA" sz="900" b="0" i="0" u="none" strike="noStrike" dirty="0">
                        <a:solidFill>
                          <a:srgbClr val="000000"/>
                        </a:solidFill>
                        <a:effectLst/>
                        <a:latin typeface="Calibri" panose="020F0502020204030204" pitchFamily="34" charset="0"/>
                      </a:endParaRPr>
                    </a:p>
                  </a:txBody>
                  <a:tcPr marL="4067" marR="4067" marT="4067" marB="0" anchor="b"/>
                </a:tc>
                <a:tc>
                  <a:txBody>
                    <a:bodyPr/>
                    <a:lstStyle/>
                    <a:p>
                      <a:pPr algn="ctr" fontAlgn="b"/>
                      <a:r>
                        <a:rPr lang="en-CA" sz="900" u="none" strike="noStrike" dirty="0">
                          <a:effectLst/>
                        </a:rPr>
                        <a:t>Robbery response unusually slow; rare victim demographic; negative LOF indicates isolation.</a:t>
                      </a:r>
                      <a:endParaRPr lang="en-CA" sz="900" b="0" i="0" u="none" strike="noStrike" dirty="0">
                        <a:solidFill>
                          <a:srgbClr val="000000"/>
                        </a:solidFill>
                        <a:effectLst/>
                        <a:latin typeface="Calibri" panose="020F0502020204030204" pitchFamily="34" charset="0"/>
                      </a:endParaRPr>
                    </a:p>
                  </a:txBody>
                  <a:tcPr marL="4067" marR="4067" marT="4067" marB="0" anchor="b"/>
                </a:tc>
                <a:extLst>
                  <a:ext uri="{0D108BD9-81ED-4DB2-BD59-A6C34878D82A}">
                    <a16:rowId xmlns:a16="http://schemas.microsoft.com/office/drawing/2014/main" val="435898444"/>
                  </a:ext>
                </a:extLst>
              </a:tr>
              <a:tr h="489885">
                <a:tc>
                  <a:txBody>
                    <a:bodyPr/>
                    <a:lstStyle/>
                    <a:p>
                      <a:pPr algn="ctr" fontAlgn="b"/>
                      <a:r>
                        <a:rPr lang="en-CA" sz="900" u="none" strike="noStrike">
                          <a:effectLst/>
                        </a:rPr>
                        <a:t>380</a:t>
                      </a:r>
                      <a:endParaRPr lang="en-CA" sz="900" b="0" i="0" u="none" strike="noStrike">
                        <a:solidFill>
                          <a:srgbClr val="000000"/>
                        </a:solidFill>
                        <a:effectLst/>
                        <a:latin typeface="Calibri" panose="020F0502020204030204" pitchFamily="34" charset="0"/>
                      </a:endParaRPr>
                    </a:p>
                  </a:txBody>
                  <a:tcPr marL="4067" marR="4067" marT="4067" marB="0" anchor="b"/>
                </a:tc>
                <a:tc>
                  <a:txBody>
                    <a:bodyPr/>
                    <a:lstStyle/>
                    <a:p>
                      <a:pPr algn="ctr" fontAlgn="b"/>
                      <a:r>
                        <a:rPr lang="en-CA" sz="900" u="none" strike="noStrike" dirty="0">
                          <a:effectLst/>
                        </a:rPr>
                        <a:t>Burglary Motor Vehicle</a:t>
                      </a:r>
                      <a:endParaRPr lang="en-CA" sz="900" b="0" i="0" u="none" strike="noStrike" dirty="0">
                        <a:solidFill>
                          <a:srgbClr val="000000"/>
                        </a:solidFill>
                        <a:effectLst/>
                        <a:latin typeface="Calibri" panose="020F0502020204030204" pitchFamily="34" charset="0"/>
                      </a:endParaRPr>
                    </a:p>
                  </a:txBody>
                  <a:tcPr marL="4067" marR="4067" marT="4067" marB="0" anchor="b"/>
                </a:tc>
                <a:tc>
                  <a:txBody>
                    <a:bodyPr/>
                    <a:lstStyle/>
                    <a:p>
                      <a:pPr algn="ctr" fontAlgn="b"/>
                      <a:r>
                        <a:rPr lang="en-CA" sz="900" u="none" strike="noStrike">
                          <a:effectLst/>
                        </a:rPr>
                        <a:t>Response Time: 2.10 hrs, Report Delay: 10.73 hrs</a:t>
                      </a:r>
                      <a:endParaRPr lang="en-CA" sz="900" b="0" i="0" u="none" strike="noStrike">
                        <a:solidFill>
                          <a:srgbClr val="000000"/>
                        </a:solidFill>
                        <a:effectLst/>
                        <a:latin typeface="Calibri" panose="020F0502020204030204" pitchFamily="34" charset="0"/>
                      </a:endParaRPr>
                    </a:p>
                  </a:txBody>
                  <a:tcPr marL="4067" marR="4067" marT="4067" marB="0" anchor="b"/>
                </a:tc>
                <a:tc>
                  <a:txBody>
                    <a:bodyPr/>
                    <a:lstStyle/>
                    <a:p>
                      <a:pPr algn="ctr" fontAlgn="b"/>
                      <a:r>
                        <a:rPr lang="en-CA" sz="900" u="none" strike="noStrike" dirty="0">
                          <a:effectLst/>
                        </a:rPr>
                        <a:t>Reporting delay is high for BMV cases. </a:t>
                      </a:r>
                    </a:p>
                    <a:p>
                      <a:pPr algn="ctr" fontAlgn="b"/>
                      <a:r>
                        <a:rPr lang="en-CA" sz="900" u="none" strike="noStrike" dirty="0">
                          <a:effectLst/>
                        </a:rPr>
                        <a:t>MD score (13.06).</a:t>
                      </a:r>
                      <a:endParaRPr lang="en-CA" sz="900" b="0" i="0" u="none" strike="noStrike" dirty="0">
                        <a:solidFill>
                          <a:srgbClr val="000000"/>
                        </a:solidFill>
                        <a:effectLst/>
                        <a:latin typeface="Calibri" panose="020F0502020204030204" pitchFamily="34" charset="0"/>
                      </a:endParaRPr>
                    </a:p>
                  </a:txBody>
                  <a:tcPr marL="4067" marR="4067" marT="4067" marB="0" anchor="b"/>
                </a:tc>
                <a:tc>
                  <a:txBody>
                    <a:bodyPr/>
                    <a:lstStyle/>
                    <a:p>
                      <a:pPr algn="ctr" fontAlgn="b"/>
                      <a:r>
                        <a:rPr lang="en-CA" sz="900" u="none" strike="noStrike" dirty="0">
                          <a:effectLst/>
                        </a:rPr>
                        <a:t>High reporting delay for BMV; location uncommon for crime type; strong MD anomaly.</a:t>
                      </a:r>
                      <a:endParaRPr lang="en-CA" sz="900" b="0" i="0" u="none" strike="noStrike" dirty="0">
                        <a:solidFill>
                          <a:srgbClr val="000000"/>
                        </a:solidFill>
                        <a:effectLst/>
                        <a:latin typeface="Calibri" panose="020F0502020204030204" pitchFamily="34" charset="0"/>
                      </a:endParaRPr>
                    </a:p>
                  </a:txBody>
                  <a:tcPr marL="4067" marR="4067" marT="4067" marB="0" anchor="b"/>
                </a:tc>
                <a:extLst>
                  <a:ext uri="{0D108BD9-81ED-4DB2-BD59-A6C34878D82A}">
                    <a16:rowId xmlns:a16="http://schemas.microsoft.com/office/drawing/2014/main" val="677222870"/>
                  </a:ext>
                </a:extLst>
              </a:tr>
              <a:tr h="489885">
                <a:tc>
                  <a:txBody>
                    <a:bodyPr/>
                    <a:lstStyle/>
                    <a:p>
                      <a:pPr algn="ctr" fontAlgn="b"/>
                      <a:r>
                        <a:rPr lang="en-CA" sz="900" u="none" strike="noStrike">
                          <a:effectLst/>
                        </a:rPr>
                        <a:t>402</a:t>
                      </a:r>
                      <a:endParaRPr lang="en-CA" sz="900" b="0" i="0" u="none" strike="noStrike">
                        <a:solidFill>
                          <a:srgbClr val="000000"/>
                        </a:solidFill>
                        <a:effectLst/>
                        <a:latin typeface="Calibri" panose="020F0502020204030204" pitchFamily="34" charset="0"/>
                      </a:endParaRPr>
                    </a:p>
                  </a:txBody>
                  <a:tcPr marL="4067" marR="4067" marT="4067" marB="0" anchor="b"/>
                </a:tc>
                <a:tc>
                  <a:txBody>
                    <a:bodyPr/>
                    <a:lstStyle/>
                    <a:p>
                      <a:pPr algn="ctr" fontAlgn="b"/>
                      <a:r>
                        <a:rPr lang="en-CA" sz="900" u="none" strike="noStrike">
                          <a:effectLst/>
                        </a:rPr>
                        <a:t>Unauthorized Use of Motor Veh</a:t>
                      </a:r>
                      <a:endParaRPr lang="en-CA" sz="900" b="0" i="0" u="none" strike="noStrike">
                        <a:solidFill>
                          <a:srgbClr val="000000"/>
                        </a:solidFill>
                        <a:effectLst/>
                        <a:latin typeface="Calibri" panose="020F0502020204030204" pitchFamily="34" charset="0"/>
                      </a:endParaRPr>
                    </a:p>
                  </a:txBody>
                  <a:tcPr marL="4067" marR="4067" marT="4067" marB="0" anchor="b"/>
                </a:tc>
                <a:tc>
                  <a:txBody>
                    <a:bodyPr/>
                    <a:lstStyle/>
                    <a:p>
                      <a:pPr algn="ctr" fontAlgn="b"/>
                      <a:r>
                        <a:rPr lang="en-CA" sz="900" u="none" strike="noStrike">
                          <a:effectLst/>
                        </a:rPr>
                        <a:t>Response Time: 2.04 hrs, Report Delay: 12.18 hrs</a:t>
                      </a:r>
                      <a:endParaRPr lang="en-CA" sz="900" b="0" i="0" u="none" strike="noStrike">
                        <a:solidFill>
                          <a:srgbClr val="000000"/>
                        </a:solidFill>
                        <a:effectLst/>
                        <a:latin typeface="Calibri" panose="020F0502020204030204" pitchFamily="34" charset="0"/>
                      </a:endParaRPr>
                    </a:p>
                  </a:txBody>
                  <a:tcPr marL="4067" marR="4067" marT="4067" marB="0" anchor="b"/>
                </a:tc>
                <a:tc>
                  <a:txBody>
                    <a:bodyPr/>
                    <a:lstStyle/>
                    <a:p>
                      <a:pPr algn="ctr" fontAlgn="b"/>
                      <a:r>
                        <a:rPr lang="en-CA" sz="900" u="none" strike="noStrike" dirty="0">
                          <a:effectLst/>
                        </a:rPr>
                        <a:t>Longer delay than norm. MD score (6.42) and </a:t>
                      </a:r>
                    </a:p>
                    <a:p>
                      <a:pPr algn="ctr" fontAlgn="b"/>
                      <a:r>
                        <a:rPr lang="en-CA" sz="900" u="none" strike="noStrike" dirty="0">
                          <a:effectLst/>
                        </a:rPr>
                        <a:t>negative LOF show deviation from cluster norms.</a:t>
                      </a:r>
                      <a:endParaRPr lang="en-CA" sz="900" b="0" i="0" u="none" strike="noStrike" dirty="0">
                        <a:solidFill>
                          <a:srgbClr val="000000"/>
                        </a:solidFill>
                        <a:effectLst/>
                        <a:latin typeface="Calibri" panose="020F0502020204030204" pitchFamily="34" charset="0"/>
                      </a:endParaRPr>
                    </a:p>
                  </a:txBody>
                  <a:tcPr marL="4067" marR="4067" marT="4067" marB="0" anchor="b"/>
                </a:tc>
                <a:tc>
                  <a:txBody>
                    <a:bodyPr/>
                    <a:lstStyle/>
                    <a:p>
                      <a:pPr algn="ctr" fontAlgn="b"/>
                      <a:r>
                        <a:rPr lang="en-CA" sz="900" u="none" strike="noStrike" dirty="0">
                          <a:effectLst/>
                        </a:rPr>
                        <a:t>Combination of long delay and location anomaly; negative LOF and MD deviation.</a:t>
                      </a:r>
                      <a:endParaRPr lang="en-CA" sz="900" b="0" i="0" u="none" strike="noStrike" dirty="0">
                        <a:solidFill>
                          <a:srgbClr val="000000"/>
                        </a:solidFill>
                        <a:effectLst/>
                        <a:latin typeface="Calibri" panose="020F0502020204030204" pitchFamily="34" charset="0"/>
                      </a:endParaRPr>
                    </a:p>
                  </a:txBody>
                  <a:tcPr marL="4067" marR="4067" marT="4067" marB="0" anchor="b"/>
                </a:tc>
                <a:extLst>
                  <a:ext uri="{0D108BD9-81ED-4DB2-BD59-A6C34878D82A}">
                    <a16:rowId xmlns:a16="http://schemas.microsoft.com/office/drawing/2014/main" val="862012241"/>
                  </a:ext>
                </a:extLst>
              </a:tr>
            </a:tbl>
          </a:graphicData>
        </a:graphic>
      </p:graphicFrame>
    </p:spTree>
    <p:extLst>
      <p:ext uri="{BB962C8B-B14F-4D97-AF65-F5344CB8AC3E}">
        <p14:creationId xmlns:p14="http://schemas.microsoft.com/office/powerpoint/2010/main" val="41184322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28C2E7-72DC-A16C-89C8-428601AA49FD}"/>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263F47F8-FEA4-7C1B-4295-70F90E2CFF25}"/>
              </a:ext>
            </a:extLst>
          </p:cNvPr>
          <p:cNvSpPr>
            <a:spLocks noGrp="1"/>
          </p:cNvSpPr>
          <p:nvPr>
            <p:ph idx="1"/>
          </p:nvPr>
        </p:nvSpPr>
        <p:spPr/>
        <p:txBody>
          <a:bodyPr/>
          <a:lstStyle/>
          <a:p>
            <a:r>
              <a:rPr lang="en-CA" sz="1800" dirty="0">
                <a:effectLst/>
                <a:latin typeface="Arial" panose="020B0604020202020204" pitchFamily="34" charset="0"/>
                <a:ea typeface="Arial" panose="020B0604020202020204" pitchFamily="34" charset="0"/>
              </a:rPr>
              <a:t>For next steps, we recommend that these outlier records be reviewed by domain experts and that the 9 universal outliers be treated as critical anomalies requiring immediate investigation. </a:t>
            </a:r>
          </a:p>
          <a:p>
            <a:r>
              <a:rPr lang="en-CA" sz="1800" dirty="0">
                <a:effectLst/>
                <a:latin typeface="Arial" panose="020B0604020202020204" pitchFamily="34" charset="0"/>
                <a:ea typeface="Arial" panose="020B0604020202020204" pitchFamily="34" charset="0"/>
              </a:rPr>
              <a:t>The classification models could be deployed as decision support tools for police dispatchers, and regular retraining on updated data would keep the models current with evolving crime patterns</a:t>
            </a:r>
            <a:r>
              <a:rPr lang="en-CA" dirty="0">
                <a:effectLst/>
              </a:rPr>
              <a:t> </a:t>
            </a:r>
            <a:endParaRPr lang="en-CA" sz="1800" dirty="0">
              <a:latin typeface="Arial" panose="020B0604020202020204" pitchFamily="34" charset="0"/>
            </a:endParaRPr>
          </a:p>
          <a:p>
            <a:r>
              <a:rPr lang="en-CA" sz="1800" dirty="0">
                <a:effectLst/>
                <a:latin typeface="Arial" panose="020B0604020202020204" pitchFamily="34" charset="0"/>
                <a:ea typeface="Arial" panose="020B0604020202020204" pitchFamily="34" charset="0"/>
              </a:rPr>
              <a:t>Ultimately, this project demonstrates the power of combining multiple machine learning techniques to transform raw police incident data into actionable intelligence. By identifying patterns, classifying incidents, and detecting anomalies, we can support smarter, safer, and more effective policing.</a:t>
            </a:r>
          </a:p>
          <a:p>
            <a:endParaRPr lang="en-US" dirty="0"/>
          </a:p>
        </p:txBody>
      </p:sp>
    </p:spTree>
    <p:extLst>
      <p:ext uri="{BB962C8B-B14F-4D97-AF65-F5344CB8AC3E}">
        <p14:creationId xmlns:p14="http://schemas.microsoft.com/office/powerpoint/2010/main" val="27943243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F4B911-7A9D-17E9-3FC4-AE23725E9A37}"/>
              </a:ext>
            </a:extLst>
          </p:cNvPr>
          <p:cNvSpPr>
            <a:spLocks noGrp="1"/>
          </p:cNvSpPr>
          <p:nvPr>
            <p:ph type="title"/>
          </p:nvPr>
        </p:nvSpPr>
        <p:spPr>
          <a:xfrm>
            <a:off x="1393638" y="2728735"/>
            <a:ext cx="9404723" cy="1400530"/>
          </a:xfrm>
        </p:spPr>
        <p:txBody>
          <a:bodyPr/>
          <a:lstStyle/>
          <a:p>
            <a:pPr algn="ctr"/>
            <a:r>
              <a:rPr lang="en-US" sz="8000" dirty="0"/>
              <a:t>Thank You</a:t>
            </a:r>
          </a:p>
        </p:txBody>
      </p:sp>
    </p:spTree>
    <p:extLst>
      <p:ext uri="{BB962C8B-B14F-4D97-AF65-F5344CB8AC3E}">
        <p14:creationId xmlns:p14="http://schemas.microsoft.com/office/powerpoint/2010/main" val="143917798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{FAC5E0D4-2113-B044-B8A2-3CE2870965AE}tf10001062</Template>
  <TotalTime>232</TotalTime>
  <Words>1257</Words>
  <Application>Microsoft Macintosh PowerPoint</Application>
  <PresentationFormat>Widescreen</PresentationFormat>
  <Paragraphs>149</Paragraphs>
  <Slides>18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Arial</vt:lpstr>
      <vt:lpstr>Calibri</vt:lpstr>
      <vt:lpstr>Century Gothic</vt:lpstr>
      <vt:lpstr>Times New Roman</vt:lpstr>
      <vt:lpstr>Wingdings 3</vt:lpstr>
      <vt:lpstr>Ion</vt:lpstr>
      <vt:lpstr>Crime Patterns Analysis and Anomaly Detection in Law Enforcement using Machine Learning</vt:lpstr>
      <vt:lpstr>Business Understanding</vt:lpstr>
      <vt:lpstr>Data Understanding</vt:lpstr>
      <vt:lpstr>Data Understanding</vt:lpstr>
      <vt:lpstr>General Data Preparation</vt:lpstr>
      <vt:lpstr>PowerPoint Presentation</vt:lpstr>
      <vt:lpstr>PowerPoint Presentation</vt:lpstr>
      <vt:lpstr>Decision Tree</vt:lpstr>
      <vt:lpstr>Clustering</vt:lpstr>
      <vt:lpstr>Elbow Diagram</vt:lpstr>
      <vt:lpstr>Clusters Bar chart</vt:lpstr>
      <vt:lpstr>Clustering results</vt:lpstr>
      <vt:lpstr>Outlier Detection</vt:lpstr>
      <vt:lpstr>Model Specific Feature Engineering</vt:lpstr>
      <vt:lpstr>Outlier Detection Results</vt:lpstr>
      <vt:lpstr>Common Outliers</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Crime Patterns Analysis and Anomaly Detection in Law Enforcement using Machine Learning</dc:title>
  <dc:creator>Ibrahim Irfan</dc:creator>
  <cp:lastModifiedBy>Ibrahim Irfan</cp:lastModifiedBy>
  <cp:revision>12</cp:revision>
  <dcterms:created xsi:type="dcterms:W3CDTF">2025-11-24T02:03:52Z</dcterms:created>
  <dcterms:modified xsi:type="dcterms:W3CDTF">2025-11-25T03:22:39Z</dcterms:modified>
</cp:coreProperties>
</file>